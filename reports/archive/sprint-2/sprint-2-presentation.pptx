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ewsreader"/>
      <p:regular r:id="rId17"/>
      <p:bold r:id="rId18"/>
      <p:italic r:id="rId19"/>
      <p:boldItalic r:id="rId20"/>
    </p:embeddedFont>
    <p:embeddedFont>
      <p:font typeface="DM Sans Light"/>
      <p:regular r:id="rId21"/>
      <p:bold r:id="rId22"/>
      <p:italic r:id="rId23"/>
      <p:boldItalic r:id="rId24"/>
    </p:embeddedFont>
    <p:embeddedFont>
      <p:font typeface="DM Sans SemiBold"/>
      <p:regular r:id="rId25"/>
      <p:bold r:id="rId26"/>
      <p:italic r:id="rId27"/>
      <p:boldItalic r:id="rId28"/>
    </p:embeddedFont>
    <p:embeddedFont>
      <p:font typeface="DM Sans"/>
      <p:regular r:id="rId29"/>
      <p:bold r:id="rId30"/>
      <p:italic r:id="rId31"/>
      <p:boldItalic r:id="rId32"/>
    </p:embeddedFont>
    <p:embeddedFont>
      <p:font typeface="Newsreader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33" Type="http://schemas.openxmlformats.org/officeDocument/2006/relationships/font" Target="fonts/NewsreaderSemiBold-regular.fntdata"/><Relationship Id="rId32" Type="http://schemas.openxmlformats.org/officeDocument/2006/relationships/font" Target="fonts/DMSans-boldItalic.fntdata"/><Relationship Id="rId35" Type="http://schemas.openxmlformats.org/officeDocument/2006/relationships/font" Target="fonts/NewsreaderSemiBold-italic.fntdata"/><Relationship Id="rId34" Type="http://schemas.openxmlformats.org/officeDocument/2006/relationships/font" Target="fonts/NewsreaderSemiBold-bold.fntdata"/><Relationship Id="rId36" Type="http://schemas.openxmlformats.org/officeDocument/2006/relationships/font" Target="fonts/NewsreaderSemiBold-boldItalic.fntdata"/><Relationship Id="rId20" Type="http://schemas.openxmlformats.org/officeDocument/2006/relationships/font" Target="fonts/Newsreader-boldItalic.fntdata"/><Relationship Id="rId22" Type="http://schemas.openxmlformats.org/officeDocument/2006/relationships/font" Target="fonts/DMSansLight-bold.fntdata"/><Relationship Id="rId21" Type="http://schemas.openxmlformats.org/officeDocument/2006/relationships/font" Target="fonts/DMSansLight-regular.fntdata"/><Relationship Id="rId24" Type="http://schemas.openxmlformats.org/officeDocument/2006/relationships/font" Target="fonts/DMSansLight-boldItalic.fntdata"/><Relationship Id="rId23" Type="http://schemas.openxmlformats.org/officeDocument/2006/relationships/font" Target="fonts/DMSansLight-italic.fntdata"/><Relationship Id="rId26" Type="http://schemas.openxmlformats.org/officeDocument/2006/relationships/font" Target="fonts/DMSansSemiBold-bold.fntdata"/><Relationship Id="rId25" Type="http://schemas.openxmlformats.org/officeDocument/2006/relationships/font" Target="fonts/DMSansSemiBold-regular.fntdata"/><Relationship Id="rId28" Type="http://schemas.openxmlformats.org/officeDocument/2006/relationships/font" Target="fonts/DMSansSemiBold-boldItalic.fntdata"/><Relationship Id="rId27" Type="http://schemas.openxmlformats.org/officeDocument/2006/relationships/font" Target="fonts/DMSansSemiBold-italic.fntdata"/><Relationship Id="rId29" Type="http://schemas.openxmlformats.org/officeDocument/2006/relationships/font" Target="fonts/DMSan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ewsreader-regular.fntdata"/><Relationship Id="rId16" Type="http://schemas.openxmlformats.org/officeDocument/2006/relationships/slide" Target="slides/slide11.xml"/><Relationship Id="rId19" Type="http://schemas.openxmlformats.org/officeDocument/2006/relationships/font" Target="fonts/Newsreader-italic.fntdata"/><Relationship Id="rId18" Type="http://schemas.openxmlformats.org/officeDocument/2006/relationships/font" Target="fonts/Newsread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faca7bedc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faca7bedc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faca7be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cfaca7be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faca7bedc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cfaca7bedc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faca7bedc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cfaca7bedc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faca7bedc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cfaca7bedc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faca7bedc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cfaca7bedc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faca7bedc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faca7bedc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faca7bedc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cfaca7bedc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faca7bedc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faca7bedc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faca7bedc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cfaca7bedc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faca7bedc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cfaca7bedc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99750" y="2160150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70" name="Google Shape;470;p55"/>
          <p:cNvSpPr txBox="1"/>
          <p:nvPr>
            <p:ph idx="3" type="body"/>
          </p:nvPr>
        </p:nvSpPr>
        <p:spPr>
          <a:xfrm>
            <a:off x="619425" y="1751522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Tz-Ray Wang and Alan Qiu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"/>
          <p:cNvSpPr txBox="1"/>
          <p:nvPr>
            <p:ph idx="3" type="body"/>
          </p:nvPr>
        </p:nvSpPr>
        <p:spPr>
          <a:xfrm>
            <a:off x="642725" y="2499373"/>
            <a:ext cx="34926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Tz-Ray Wang and Alan Qiu</a:t>
            </a:r>
            <a:endParaRPr/>
          </a:p>
        </p:txBody>
      </p:sp>
      <p:pic>
        <p:nvPicPr>
          <p:cNvPr descr="A close-up of a modern glass structure. " id="476" name="Google Shape;476;p56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6"/>
          <p:cNvSpPr txBox="1"/>
          <p:nvPr>
            <p:ph type="title"/>
          </p:nvPr>
        </p:nvSpPr>
        <p:spPr>
          <a:xfrm>
            <a:off x="208175" y="1895395"/>
            <a:ext cx="43617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82" name="Google Shape;482;p5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7"/>
          <p:cNvSpPr txBox="1"/>
          <p:nvPr>
            <p:ph type="title"/>
          </p:nvPr>
        </p:nvSpPr>
        <p:spPr>
          <a:xfrm>
            <a:off x="399750" y="160097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Implementation</a:t>
            </a:r>
            <a:endParaRPr/>
          </a:p>
        </p:txBody>
      </p:sp>
      <p:sp>
        <p:nvSpPr>
          <p:cNvPr id="484" name="Google Shape;484;p57"/>
          <p:cNvSpPr txBox="1"/>
          <p:nvPr>
            <p:ph idx="3" type="body"/>
          </p:nvPr>
        </p:nvSpPr>
        <p:spPr>
          <a:xfrm>
            <a:off x="619425" y="2731723"/>
            <a:ext cx="3492600" cy="3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Tz-Ray Wang and Alan Qiu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89" name="Google Shape;489;p58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8"/>
          <p:cNvSpPr txBox="1"/>
          <p:nvPr>
            <p:ph type="title"/>
          </p:nvPr>
        </p:nvSpPr>
        <p:spPr>
          <a:xfrm>
            <a:off x="435675" y="112807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Figma Prototype &amp; Client Feedback</a:t>
            </a:r>
            <a:endParaRPr/>
          </a:p>
        </p:txBody>
      </p:sp>
      <p:sp>
        <p:nvSpPr>
          <p:cNvPr id="491" name="Google Shape;491;p58"/>
          <p:cNvSpPr txBox="1"/>
          <p:nvPr>
            <p:ph idx="3" type="body"/>
          </p:nvPr>
        </p:nvSpPr>
        <p:spPr>
          <a:xfrm>
            <a:off x="619425" y="2731723"/>
            <a:ext cx="3492600" cy="3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Tz-Ray Wang and Alan Qiu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96" name="Google Shape;496;p59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9"/>
          <p:cNvSpPr txBox="1"/>
          <p:nvPr>
            <p:ph type="title"/>
          </p:nvPr>
        </p:nvSpPr>
        <p:spPr>
          <a:xfrm>
            <a:off x="181950" y="1108350"/>
            <a:ext cx="42957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 Overview &amp; Team Contributions</a:t>
            </a:r>
            <a:endParaRPr/>
          </a:p>
        </p:txBody>
      </p:sp>
      <p:sp>
        <p:nvSpPr>
          <p:cNvPr id="498" name="Google Shape;498;p59"/>
          <p:cNvSpPr txBox="1"/>
          <p:nvPr>
            <p:ph idx="3" type="body"/>
          </p:nvPr>
        </p:nvSpPr>
        <p:spPr>
          <a:xfrm>
            <a:off x="619425" y="2731723"/>
            <a:ext cx="3492600" cy="3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Tz-Ray Wang and Alan Qiu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03" name="Google Shape;503;p60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0"/>
          <p:cNvSpPr txBox="1"/>
          <p:nvPr>
            <p:ph type="title"/>
          </p:nvPr>
        </p:nvSpPr>
        <p:spPr>
          <a:xfrm>
            <a:off x="-73350" y="1224950"/>
            <a:ext cx="4806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For those working on Website Development on Wix, WordPress, or Similar Platform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09" name="Google Shape;509;p61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61"/>
          <p:cNvSpPr txBox="1"/>
          <p:nvPr>
            <p:ph type="title"/>
          </p:nvPr>
        </p:nvSpPr>
        <p:spPr>
          <a:xfrm>
            <a:off x="-73350" y="1141750"/>
            <a:ext cx="4806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Documentation of System Architecture, Database, User Interface, and Testing Plan </a:t>
            </a:r>
            <a:endParaRPr sz="3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5" name="Google Shape;515;p62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62"/>
          <p:cNvSpPr txBox="1"/>
          <p:nvPr>
            <p:ph type="title"/>
          </p:nvPr>
        </p:nvSpPr>
        <p:spPr>
          <a:xfrm>
            <a:off x="20550" y="1801500"/>
            <a:ext cx="4806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Responsible Use of AI</a:t>
            </a:r>
            <a:endParaRPr sz="3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21" name="Google Shape;521;p63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3"/>
          <p:cNvSpPr txBox="1"/>
          <p:nvPr>
            <p:ph type="title"/>
          </p:nvPr>
        </p:nvSpPr>
        <p:spPr>
          <a:xfrm>
            <a:off x="20550" y="2025000"/>
            <a:ext cx="4806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Sprint Achievements and Challenges</a:t>
            </a:r>
            <a:endParaRPr sz="3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27" name="Google Shape;527;p64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4"/>
          <p:cNvSpPr txBox="1"/>
          <p:nvPr>
            <p:ph type="title"/>
          </p:nvPr>
        </p:nvSpPr>
        <p:spPr>
          <a:xfrm>
            <a:off x="20550" y="1962300"/>
            <a:ext cx="4806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Next Steps and Sprint Retrospective</a:t>
            </a:r>
            <a:endParaRPr sz="3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33" name="Google Shape;533;p6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5"/>
          <p:cNvSpPr txBox="1"/>
          <p:nvPr>
            <p:ph type="title"/>
          </p:nvPr>
        </p:nvSpPr>
        <p:spPr>
          <a:xfrm>
            <a:off x="-73350" y="1720125"/>
            <a:ext cx="4806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 Conclusion 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