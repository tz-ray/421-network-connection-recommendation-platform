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548640" y="384048"/>
            <a:ext cx="77724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spc="200">
                <a:solidFill>
                  <a:srgbClr val="3B82F6"/>
                </a:solidFill>
                <a:latin typeface="Segoe UI"/>
                <a:cs typeface="Segoe UI"/>
              </a:rPr>
              <a:t>1 ·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58368"/>
            <a:ext cx="11094415" cy="7498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1">
                <a:solidFill>
                  <a:srgbClr val="E6EAF2"/>
                </a:solidFill>
                <a:latin typeface="Segoe UI"/>
                <a:cs typeface="Segoe UI"/>
              </a:rPr>
              <a:t>Network Connection Recommendation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26464"/>
            <a:ext cx="6400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ubtitle"/>
          <p:cNvSpPr txBox="1"/>
          <p:nvPr/>
        </p:nvSpPr>
        <p:spPr>
          <a:xfrm>
            <a:off x="548640" y="1572768"/>
            <a:ext cx="11094415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94A3B8"/>
                </a:solidFill>
                <a:latin typeface="Segoe UI"/>
                <a:cs typeface="Segoe UI"/>
              </a:rPr>
              <a:t>Sprint 5 · Oct 1 – Oct 31, 2026 · Team 9 · Client: Blake Gibson, Cowles Ventures</a:t>
            </a:r>
          </a:p>
        </p:txBody>
      </p:sp>
      <p:sp>
        <p:nvSpPr>
          <p:cNvPr id="6" name="bullets"/>
          <p:cNvSpPr txBox="1"/>
          <p:nvPr/>
        </p:nvSpPr>
        <p:spPr>
          <a:xfrm>
            <a:off x="548640" y="2194560"/>
            <a:ext cx="6202375" cy="39502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1800" b="0">
                <a:solidFill>
                  <a:srgbClr val="E6EAF2"/>
                </a:solidFill>
                <a:latin typeface="Segoe UI"/>
                <a:cs typeface="Segoe UI"/>
              </a:rPr>
              <a:t>Find whom in your own LinkedIn network to contact first, with reasons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1800" b="1">
                <a:solidFill>
                  <a:srgbClr val="E6EAF2"/>
                </a:solidFill>
                <a:latin typeface="Segoe UI"/>
                <a:cs typeface="Segoe UI"/>
              </a:rPr>
              <a:t>Alan Qiu: </a:t>
            </a:r>
            <a:r>
              <a:rPr sz="1800" b="0">
                <a:solidFill>
                  <a:srgbClr val="E6EAF2"/>
                </a:solidFill>
                <a:latin typeface="Segoe UI"/>
                <a:cs typeface="Segoe UI"/>
              </a:rPr>
              <a:t>ranking feedback, AI chat on the live site, testing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1800" b="1">
                <a:solidFill>
                  <a:srgbClr val="E6EAF2"/>
                </a:solidFill>
                <a:latin typeface="Segoe UI"/>
                <a:cs typeface="Segoe UI"/>
              </a:rPr>
              <a:t>Tz-Ray Wang: </a:t>
            </a:r>
            <a:r>
              <a:rPr sz="1800" b="0">
                <a:solidFill>
                  <a:srgbClr val="E6EAF2"/>
                </a:solidFill>
                <a:latin typeface="Segoe UI"/>
                <a:cs typeface="Segoe UI"/>
              </a:rPr>
              <a:t>saved searches, connection graph, meaning-based search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1800" b="1">
                <a:solidFill>
                  <a:srgbClr val="E6EAF2"/>
                </a:solidFill>
                <a:latin typeface="Segoe UI"/>
                <a:cs typeface="Segoe UI"/>
              </a:rPr>
              <a:t>Sprint 5 goal: </a:t>
            </a:r>
            <a:r>
              <a:rPr sz="1800" b="0">
                <a:solidFill>
                  <a:srgbClr val="E6EAF2"/>
                </a:solidFill>
                <a:latin typeface="Segoe UI"/>
                <a:cs typeface="Segoe UI"/>
              </a:rPr>
              <a:t>finish the features, deploy for real, test at every level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1800" b="1">
                <a:solidFill>
                  <a:srgbClr val="E6EAF2"/>
                </a:solidFill>
                <a:latin typeface="Segoe UI"/>
                <a:cs typeface="Segoe UI"/>
              </a:rPr>
              <a:t>Live: </a:t>
            </a:r>
            <a:r>
              <a:rPr sz="1800" b="0">
                <a:solidFill>
                  <a:srgbClr val="3B82F6"/>
                </a:solidFill>
                <a:latin typeface="Segoe UI"/>
                <a:cs typeface="Segoe UI"/>
              </a:rPr>
              <a:t>connectionrecommender.web.app</a:t>
            </a:r>
          </a:p>
        </p:txBody>
      </p:sp>
      <p:pic>
        <p:nvPicPr>
          <p:cNvPr id="7" name="Picture 6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1055" y="2800993"/>
            <a:ext cx="4572000" cy="2810493"/>
          </a:xfrm>
          <a:prstGeom prst="rect">
            <a:avLst/>
          </a:prstGeom>
          <a:ln w="12700">
            <a:solidFill>
              <a:srgbClr val="1E293B"/>
            </a:solidFill>
          </a:ln>
        </p:spPr>
      </p:pic>
      <p:sp>
        <p:nvSpPr>
          <p:cNvPr id="8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94A3B8"/>
                </a:solidFill>
                <a:latin typeface="Segoe UI"/>
                <a:cs typeface="Segoe UI"/>
              </a:rPr>
              <a:t>Team 9 · Network Connection Recommendation Platform · Sprint 5</a:t>
            </a:r>
          </a:p>
        </p:txBody>
      </p:sp>
      <p:sp>
        <p:nvSpPr>
          <p:cNvPr id="9" name="pageno"/>
          <p:cNvSpPr txBox="1"/>
          <p:nvPr/>
        </p:nvSpPr>
        <p:spPr>
          <a:xfrm>
            <a:off x="10728655" y="6382512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94A3B8"/>
                </a:solidFill>
                <a:latin typeface="Segoe UI"/>
                <a:cs typeface="Segoe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548640" y="384048"/>
            <a:ext cx="77724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spc="200">
                <a:solidFill>
                  <a:srgbClr val="3B82F6"/>
                </a:solidFill>
                <a:latin typeface="Segoe UI"/>
                <a:cs typeface="Segoe UI"/>
              </a:rPr>
              <a:t>2 · SPRINT OBJECTIVES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58368"/>
            <a:ext cx="11094415" cy="7498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1">
                <a:solidFill>
                  <a:srgbClr val="E6EAF2"/>
                </a:solidFill>
                <a:latin typeface="Segoe UI"/>
                <a:cs typeface="Segoe UI"/>
              </a:rPr>
              <a:t>Sprint 5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26464"/>
            <a:ext cx="6400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bullets"/>
          <p:cNvSpPr txBox="1"/>
          <p:nvPr/>
        </p:nvSpPr>
        <p:spPr>
          <a:xfrm>
            <a:off x="548640" y="1783080"/>
            <a:ext cx="11094415" cy="2926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0">
                <a:solidFill>
                  <a:srgbClr val="E6EAF2"/>
                </a:solidFill>
                <a:latin typeface="Segoe UI"/>
                <a:cs typeface="Segoe UI"/>
              </a:rPr>
              <a:t>Production cloud deployment, no localhost left — </a:t>
            </a:r>
            <a:r>
              <a:rPr sz="2000" b="1">
                <a:solidFill>
                  <a:srgbClr val="22C55E"/>
                </a:solidFill>
                <a:latin typeface="Segoe UI"/>
                <a:cs typeface="Segoe UI"/>
              </a:rPr>
              <a:t>Done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0">
                <a:solidFill>
                  <a:srgbClr val="E6EAF2"/>
                </a:solidFill>
                <a:latin typeface="Segoe UI"/>
                <a:cs typeface="Segoe UI"/>
              </a:rPr>
              <a:t>Account registration and per-user data isolation — </a:t>
            </a:r>
            <a:r>
              <a:rPr sz="2000" b="1">
                <a:solidFill>
                  <a:srgbClr val="22C55E"/>
                </a:solidFill>
                <a:latin typeface="Segoe UI"/>
                <a:cs typeface="Segoe UI"/>
              </a:rPr>
              <a:t>Done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0">
                <a:solidFill>
                  <a:srgbClr val="E6EAF2"/>
                </a:solidFill>
                <a:latin typeface="Segoe UI"/>
                <a:cs typeface="Segoe UI"/>
              </a:rPr>
              <a:t>Recommendation chat widget on the live site — </a:t>
            </a:r>
            <a:r>
              <a:rPr sz="2000" b="1">
                <a:solidFill>
                  <a:srgbClr val="22C55E"/>
                </a:solidFill>
                <a:latin typeface="Segoe UI"/>
                <a:cs typeface="Segoe UI"/>
              </a:rPr>
              <a:t>Done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0">
                <a:solidFill>
                  <a:srgbClr val="E6EAF2"/>
                </a:solidFill>
                <a:latin typeface="Segoe UI"/>
                <a:cs typeface="Segoe UI"/>
              </a:rPr>
              <a:t>Scale and stability on 1,000+ connection datasets — </a:t>
            </a:r>
            <a:r>
              <a:rPr sz="2000" b="1">
                <a:solidFill>
                  <a:srgbClr val="F59E0B"/>
                </a:solidFill>
                <a:latin typeface="Segoe UI"/>
                <a:cs typeface="Segoe UI"/>
              </a:rPr>
              <a:t>Mostly done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0">
                <a:solidFill>
                  <a:srgbClr val="E6EAF2"/>
                </a:solidFill>
                <a:latin typeface="Segoe UI"/>
                <a:cs typeface="Segoe UI"/>
              </a:rPr>
              <a:t>Vision: a tool the client uses alone; Sprint 6 = polish and handoff</a:t>
            </a:r>
          </a:p>
        </p:txBody>
      </p:sp>
      <p:sp>
        <p:nvSpPr>
          <p:cNvPr id="6" name="barlabel"/>
          <p:cNvSpPr txBox="1"/>
          <p:nvPr/>
        </p:nvSpPr>
        <p:spPr>
          <a:xfrm>
            <a:off x="548640" y="4800600"/>
            <a:ext cx="8229600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22C55E"/>
                </a:solidFill>
                <a:latin typeface="Segoe UI"/>
                <a:cs typeface="Segoe UI"/>
              </a:rPr>
              <a:t>3 done</a:t>
            </a:r>
            <a:r>
              <a:rPr sz="1600" b="0">
                <a:solidFill>
                  <a:srgbClr val="94A3B8"/>
                </a:solidFill>
                <a:latin typeface="Segoe UI"/>
                <a:cs typeface="Segoe UI"/>
              </a:rPr>
              <a:t> · </a:t>
            </a:r>
            <a:r>
              <a:rPr sz="1600" b="1">
                <a:solidFill>
                  <a:srgbClr val="F59E0B"/>
                </a:solidFill>
                <a:latin typeface="Segoe UI"/>
                <a:cs typeface="Segoe UI"/>
              </a:rPr>
              <a:t>1 mostly done</a:t>
            </a:r>
            <a:r>
              <a:rPr sz="1600" b="0">
                <a:solidFill>
                  <a:srgbClr val="94A3B8"/>
                </a:solidFill>
                <a:latin typeface="Segoe UI"/>
                <a:cs typeface="Segoe UI"/>
              </a:rPr>
              <a:t> of 4 planned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5257800"/>
            <a:ext cx="1604772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253996" y="5257800"/>
            <a:ext cx="1604772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913632" y="5257800"/>
            <a:ext cx="1604772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573268" y="5257800"/>
            <a:ext cx="1604772" cy="27432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94A3B8"/>
                </a:solidFill>
                <a:latin typeface="Segoe UI"/>
                <a:cs typeface="Segoe UI"/>
              </a:rPr>
              <a:t>Team 9 · Network Connection Recommendation Platform · Sprint 5</a:t>
            </a:r>
          </a:p>
        </p:txBody>
      </p:sp>
      <p:sp>
        <p:nvSpPr>
          <p:cNvPr id="12" name="pageno"/>
          <p:cNvSpPr txBox="1"/>
          <p:nvPr/>
        </p:nvSpPr>
        <p:spPr>
          <a:xfrm>
            <a:off x="10728655" y="6382512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94A3B8"/>
                </a:solidFill>
                <a:latin typeface="Segoe UI"/>
                <a:cs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548640" y="384048"/>
            <a:ext cx="77724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spc="200">
                <a:solidFill>
                  <a:srgbClr val="3B82F6"/>
                </a:solidFill>
                <a:latin typeface="Segoe UI"/>
                <a:cs typeface="Segoe UI"/>
              </a:rPr>
              <a:t>3 · FEATURE IMPLEMENTATION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58368"/>
            <a:ext cx="11094415" cy="7498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1">
                <a:solidFill>
                  <a:srgbClr val="E6EAF2"/>
                </a:solidFill>
                <a:latin typeface="Segoe UI"/>
                <a:cs typeface="Segoe UI"/>
              </a:rPr>
              <a:t>Features built and tested this sprint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26464"/>
            <a:ext cx="6400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5" name="features"/>
          <p:cNvGraphicFramePr>
            <a:graphicFrameLocks noGrp="1"/>
          </p:cNvGraphicFramePr>
          <p:nvPr/>
        </p:nvGraphicFramePr>
        <p:xfrm>
          <a:off x="548640" y="1691640"/>
          <a:ext cx="8488375" cy="432328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97480"/>
                <a:gridCol w="1600200"/>
                <a:gridCol w="2514600"/>
                <a:gridCol w="1676095"/>
              </a:tblGrid>
              <a:tr h="400507"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E6EAF2"/>
                          </a:solidFill>
                          <a:latin typeface="Segoe UI"/>
                          <a:cs typeface="Segoe UI"/>
                        </a:rPr>
                        <a:t>Feature (owner)</a:t>
                      </a:r>
                    </a:p>
                  </a:txBody>
                  <a:tcPr marL="91440" marT="45720" marR="9144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E6EAF2"/>
                          </a:solidFill>
                          <a:latin typeface="Segoe UI"/>
                          <a:cs typeface="Segoe UI"/>
                        </a:rPr>
                        <a:t>Before</a:t>
                      </a:r>
                    </a:p>
                  </a:txBody>
                  <a:tcPr marL="91440" marT="45720" marR="9144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E6EAF2"/>
                          </a:solidFill>
                          <a:latin typeface="Segoe UI"/>
                          <a:cs typeface="Segoe UI"/>
                        </a:rPr>
                        <a:t>Now</a:t>
                      </a:r>
                    </a:p>
                  </a:txBody>
                  <a:tcPr marL="91440" marT="45720" marR="9144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E6EAF2"/>
                          </a:solidFill>
                          <a:latin typeface="Segoe UI"/>
                          <a:cs typeface="Segoe UI"/>
                        </a:rPr>
                        <a:t>Validated by</a:t>
                      </a:r>
                    </a:p>
                  </a:txBody>
                  <a:tcPr marL="91440" marT="45720" marR="9144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</a:tr>
              <a:tr h="653796"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E6EAF2"/>
                          </a:solidFill>
                          <a:latin typeface="Segoe UI"/>
                          <a:cs typeface="Segoe UI"/>
                        </a:rPr>
                        <a:t>Ranking feedback fixes (Alan)</a:t>
                      </a:r>
                    </a:p>
                  </a:txBody>
                  <a:tcPr marL="91440" marT="45720" marR="9144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</a:lnB>
                    <a:solidFill>
                      <a:srgbClr val="13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94A3B8"/>
                          </a:solidFill>
                          <a:latin typeface="Segoe UI"/>
                          <a:cs typeface="Segoe UI"/>
                        </a:rPr>
                        <a:t>7 open defects</a:t>
                      </a:r>
                    </a:p>
                  </a:txBody>
                  <a:tcPr marL="91440" marT="45720" marR="9144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</a:lnB>
                    <a:solidFill>
                      <a:srgbClr val="13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E6EAF2"/>
                          </a:solidFill>
                          <a:latin typeface="Segoe UI"/>
                          <a:cs typeface="Segoe UI"/>
                        </a:rPr>
                        <a:t>Loading state, race guard, "Marked irrelevant"</a:t>
                      </a:r>
                    </a:p>
                  </a:txBody>
                  <a:tcPr marL="91440" marT="45720" marR="9144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</a:lnB>
                    <a:solidFill>
                      <a:srgbClr val="13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22C55E"/>
                          </a:solidFill>
                          <a:latin typeface="Segoe UI"/>
                          <a:cs typeface="Segoe UI"/>
                        </a:rPr>
                        <a:t>Regression flow</a:t>
                      </a:r>
                    </a:p>
                  </a:txBody>
                  <a:tcPr marL="91440" marT="45720" marR="9144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</a:lnB>
                    <a:solidFill>
                      <a:srgbClr val="131C2E"/>
                    </a:solidFill>
                  </a:tcPr>
                </a:tc>
              </a:tr>
              <a:tr h="653796"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E6EAF2"/>
                          </a:solidFill>
                          <a:latin typeface="Segoe UI"/>
                          <a:cs typeface="Segoe UI"/>
                        </a:rPr>
                        <a:t>AI chat + AI Rerank on the live site (Alan, Tz-Ray)</a:t>
                      </a:r>
                    </a:p>
                  </a:txBody>
                  <a:tcPr marL="91440" marT="45720" marR="9144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</a:lnB>
                    <a:solidFill>
                      <a:srgbClr val="13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94A3B8"/>
                          </a:solidFill>
                          <a:latin typeface="Segoe UI"/>
                          <a:cs typeface="Segoe UI"/>
                        </a:rPr>
                        <a:t>AI switched off</a:t>
                      </a:r>
                    </a:p>
                  </a:txBody>
                  <a:tcPr marL="91440" marT="45720" marR="9144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</a:lnB>
                    <a:solidFill>
                      <a:srgbClr val="13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E6EAF2"/>
                          </a:solidFill>
                          <a:latin typeface="Segoe UI"/>
                          <a:cs typeface="Segoe UI"/>
                        </a:rPr>
                        <a:t>Works via a free Cloudflare proxy</a:t>
                      </a:r>
                    </a:p>
                  </a:txBody>
                  <a:tcPr marL="91440" marT="45720" marR="9144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</a:lnB>
                    <a:solidFill>
                      <a:srgbClr val="13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22C55E"/>
                          </a:solidFill>
                          <a:latin typeface="Segoe UI"/>
                          <a:cs typeface="Segoe UI"/>
                        </a:rPr>
                        <a:t>24 integration tests</a:t>
                      </a:r>
                    </a:p>
                  </a:txBody>
                  <a:tcPr marL="91440" marT="45720" marR="9144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</a:lnB>
                    <a:solidFill>
                      <a:srgbClr val="131C2E"/>
                    </a:solidFill>
                  </a:tcPr>
                </a:tc>
              </a:tr>
              <a:tr h="653796"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E6EAF2"/>
                          </a:solidFill>
                          <a:latin typeface="Segoe UI"/>
                          <a:cs typeface="Segoe UI"/>
                        </a:rPr>
                        <a:t>CI + AI-proxy tests (Alan, Tz-Ray)</a:t>
                      </a:r>
                    </a:p>
                  </a:txBody>
                  <a:tcPr marL="91440" marT="45720" marR="9144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</a:lnB>
                    <a:solidFill>
                      <a:srgbClr val="13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94A3B8"/>
                          </a:solidFill>
                          <a:latin typeface="Segoe UI"/>
                          <a:cs typeface="Segoe UI"/>
                        </a:rPr>
                        <a:t>Manual checks</a:t>
                      </a:r>
                    </a:p>
                  </a:txBody>
                  <a:tcPr marL="91440" marT="45720" marR="9144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</a:lnB>
                    <a:solidFill>
                      <a:srgbClr val="13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E6EAF2"/>
                          </a:solidFill>
                          <a:latin typeface="Segoe UI"/>
                          <a:cs typeface="Segoe UI"/>
                        </a:rPr>
                        <a:t>24 proxy tests; CI prepared</a:t>
                      </a:r>
                    </a:p>
                  </a:txBody>
                  <a:tcPr marL="91440" marT="45720" marR="9144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</a:lnB>
                    <a:solidFill>
                      <a:srgbClr val="13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22C55E"/>
                          </a:solidFill>
                          <a:latin typeface="Segoe UI"/>
                          <a:cs typeface="Segoe UI"/>
                        </a:rPr>
                        <a:t>24/24 pass</a:t>
                      </a:r>
                    </a:p>
                  </a:txBody>
                  <a:tcPr marL="91440" marT="45720" marR="9144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</a:lnB>
                    <a:solidFill>
                      <a:srgbClr val="131C2E"/>
                    </a:solidFill>
                  </a:tcPr>
                </a:tc>
              </a:tr>
              <a:tr h="653796"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E6EAF2"/>
                          </a:solidFill>
                          <a:latin typeface="Segoe UI"/>
                          <a:cs typeface="Segoe UI"/>
                        </a:rPr>
                        <a:t>Saved searches + Saved Connections (Tz-Ray)</a:t>
                      </a:r>
                    </a:p>
                  </a:txBody>
                  <a:tcPr marL="91440" marT="45720" marR="9144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</a:lnB>
                    <a:solidFill>
                      <a:srgbClr val="13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94A3B8"/>
                          </a:solidFill>
                          <a:latin typeface="Segoe UI"/>
                          <a:cs typeface="Segoe UI"/>
                        </a:rPr>
                        <a:t>Re-type every search</a:t>
                      </a:r>
                    </a:p>
                  </a:txBody>
                  <a:tcPr marL="91440" marT="45720" marR="9144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</a:lnB>
                    <a:solidFill>
                      <a:srgbClr val="13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E6EAF2"/>
                          </a:solidFill>
                          <a:latin typeface="Segoe UI"/>
                          <a:cs typeface="Segoe UI"/>
                        </a:rPr>
                        <a:t>Save, re-run, star people</a:t>
                      </a:r>
                    </a:p>
                  </a:txBody>
                  <a:tcPr marL="91440" marT="45720" marR="9144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</a:lnB>
                    <a:solidFill>
                      <a:srgbClr val="13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22C55E"/>
                          </a:solidFill>
                          <a:latin typeface="Segoe UI"/>
                          <a:cs typeface="Segoe UI"/>
                        </a:rPr>
                        <a:t>Live end-to-end flow</a:t>
                      </a:r>
                    </a:p>
                  </a:txBody>
                  <a:tcPr marL="91440" marT="45720" marR="9144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</a:lnB>
                    <a:solidFill>
                      <a:srgbClr val="131C2E"/>
                    </a:solidFill>
                  </a:tcPr>
                </a:tc>
              </a:tr>
              <a:tr h="653796"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E6EAF2"/>
                          </a:solidFill>
                          <a:latin typeface="Segoe UI"/>
                          <a:cs typeface="Segoe UI"/>
                        </a:rPr>
                        <a:t>Shared graph + Network page (Tz-Ray)</a:t>
                      </a:r>
                    </a:p>
                  </a:txBody>
                  <a:tcPr marL="91440" marT="45720" marR="9144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</a:lnB>
                    <a:solidFill>
                      <a:srgbClr val="13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94A3B8"/>
                          </a:solidFill>
                          <a:latin typeface="Segoe UI"/>
                          <a:cs typeface="Segoe UI"/>
                        </a:rPr>
                        <a:t>None</a:t>
                      </a:r>
                    </a:p>
                  </a:txBody>
                  <a:tcPr marL="91440" marT="45720" marR="9144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</a:lnB>
                    <a:solidFill>
                      <a:srgbClr val="13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E6EAF2"/>
                          </a:solidFill>
                          <a:latin typeface="Segoe UI"/>
                          <a:cs typeface="Segoe UI"/>
                        </a:rPr>
                        <a:t>Opt-in "in common" graph</a:t>
                      </a:r>
                    </a:p>
                  </a:txBody>
                  <a:tcPr marL="91440" marT="45720" marR="9144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</a:lnB>
                    <a:solidFill>
                      <a:srgbClr val="13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22C55E"/>
                          </a:solidFill>
                          <a:latin typeface="Segoe UI"/>
                          <a:cs typeface="Segoe UI"/>
                        </a:rPr>
                        <a:t>62 security-rule tests</a:t>
                      </a:r>
                    </a:p>
                  </a:txBody>
                  <a:tcPr marL="91440" marT="45720" marR="9144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</a:lnB>
                    <a:solidFill>
                      <a:srgbClr val="131C2E"/>
                    </a:solidFill>
                  </a:tcPr>
                </a:tc>
              </a:tr>
              <a:tr h="653796"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solidFill>
                            <a:srgbClr val="E6EAF2"/>
                          </a:solidFill>
                          <a:latin typeface="Segoe UI"/>
                          <a:cs typeface="Segoe UI"/>
                        </a:rPr>
                        <a:t>Meaning-based search (Tz-Ray)</a:t>
                      </a:r>
                    </a:p>
                  </a:txBody>
                  <a:tcPr marL="91440" marT="45720" marR="9144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</a:lnB>
                    <a:solidFill>
                      <a:srgbClr val="13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94A3B8"/>
                          </a:solidFill>
                          <a:latin typeface="Segoe UI"/>
                          <a:cs typeface="Segoe UI"/>
                        </a:rPr>
                        <a:t>Keywords only</a:t>
                      </a:r>
                    </a:p>
                  </a:txBody>
                  <a:tcPr marL="91440" marT="45720" marR="9144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</a:lnB>
                    <a:solidFill>
                      <a:srgbClr val="13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E6EAF2"/>
                          </a:solidFill>
                          <a:latin typeface="Segoe UI"/>
                          <a:cs typeface="Segoe UI"/>
                        </a:rPr>
                        <a:t>Matches by meaning, on-device</a:t>
                      </a:r>
                    </a:p>
                  </a:txBody>
                  <a:tcPr marL="91440" marT="45720" marR="9144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</a:lnB>
                    <a:solidFill>
                      <a:srgbClr val="131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0">
                          <a:solidFill>
                            <a:srgbClr val="22C55E"/>
                          </a:solidFill>
                          <a:latin typeface="Segoe UI"/>
                          <a:cs typeface="Segoe UI"/>
                        </a:rPr>
                        <a:t>24/24 live checks</a:t>
                      </a:r>
                    </a:p>
                  </a:txBody>
                  <a:tcPr marL="91440" marT="45720" marR="91440" marB="45720" anchor="ctr">
                    <a:lnL w="12700" cap="flat" cmpd="sng" algn="ctr">
                      <a:solidFill>
                        <a:srgbClr val="1E293B"/>
                      </a:solidFill>
                      <a:prstDash val="soli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</a:lnB>
                    <a:solidFill>
                      <a:srgbClr val="131C2E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seman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1335" y="1691640"/>
            <a:ext cx="2331720" cy="1379538"/>
          </a:xfrm>
          <a:prstGeom prst="rect">
            <a:avLst/>
          </a:prstGeom>
          <a:ln w="12700">
            <a:solidFill>
              <a:srgbClr val="1E293B"/>
            </a:solidFill>
          </a:ln>
        </p:spPr>
      </p:pic>
      <p:sp>
        <p:nvSpPr>
          <p:cNvPr id="7" name="thumbcap"/>
          <p:cNvSpPr txBox="1"/>
          <p:nvPr/>
        </p:nvSpPr>
        <p:spPr>
          <a:xfrm>
            <a:off x="9311335" y="3107754"/>
            <a:ext cx="2331720" cy="310896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94A3B8"/>
                </a:solidFill>
                <a:latin typeface="Segoe UI"/>
                <a:cs typeface="Segoe UI"/>
              </a:rPr>
              <a:t>Meaning-based search</a:t>
            </a:r>
          </a:p>
        </p:txBody>
      </p:sp>
      <p:pic>
        <p:nvPicPr>
          <p:cNvPr id="8" name="Picture 7" descr="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1335" y="3574098"/>
            <a:ext cx="2331720" cy="1741766"/>
          </a:xfrm>
          <a:prstGeom prst="rect">
            <a:avLst/>
          </a:prstGeom>
          <a:ln w="12700">
            <a:solidFill>
              <a:srgbClr val="1E293B"/>
            </a:solidFill>
          </a:ln>
        </p:spPr>
      </p:pic>
      <p:sp>
        <p:nvSpPr>
          <p:cNvPr id="9" name="thumbcap"/>
          <p:cNvSpPr txBox="1"/>
          <p:nvPr/>
        </p:nvSpPr>
        <p:spPr>
          <a:xfrm>
            <a:off x="9311335" y="5352441"/>
            <a:ext cx="2331720" cy="310896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94A3B8"/>
                </a:solidFill>
                <a:latin typeface="Segoe UI"/>
                <a:cs typeface="Segoe UI"/>
              </a:rPr>
              <a:t>Network page</a:t>
            </a:r>
          </a:p>
        </p:txBody>
      </p:sp>
      <p:sp>
        <p:nvSpPr>
          <p:cNvPr id="1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94A3B8"/>
                </a:solidFill>
                <a:latin typeface="Segoe UI"/>
                <a:cs typeface="Segoe UI"/>
              </a:rPr>
              <a:t>Team 9 · Network Connection Recommendation Platform · Sprint 5</a:t>
            </a:r>
          </a:p>
        </p:txBody>
      </p:sp>
      <p:sp>
        <p:nvSpPr>
          <p:cNvPr id="11" name="pageno"/>
          <p:cNvSpPr txBox="1"/>
          <p:nvPr/>
        </p:nvSpPr>
        <p:spPr>
          <a:xfrm>
            <a:off x="10728655" y="6382512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94A3B8"/>
                </a:solidFill>
                <a:latin typeface="Segoe UI"/>
                <a:cs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548640" y="384048"/>
            <a:ext cx="77724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spc="200">
                <a:solidFill>
                  <a:srgbClr val="3B82F6"/>
                </a:solidFill>
                <a:latin typeface="Segoe UI"/>
                <a:cs typeface="Segoe UI"/>
              </a:rPr>
              <a:t>4 · DEPLOYMENT AND USER TESTING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58368"/>
            <a:ext cx="11094415" cy="7498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1">
                <a:solidFill>
                  <a:srgbClr val="E6EAF2"/>
                </a:solidFill>
                <a:latin typeface="Segoe UI"/>
                <a:cs typeface="Segoe UI"/>
              </a:rPr>
              <a:t>Deployed and tested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26464"/>
            <a:ext cx="6400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291839"/>
            <a:ext cx="1051560" cy="868680"/>
          </a:xfrm>
          <a:prstGeom prst="roundRect">
            <a:avLst>
              <a:gd name="adj" fmla="val 10526"/>
            </a:avLst>
          </a:prstGeom>
          <a:solidFill>
            <a:srgbClr val="131C2E"/>
          </a:solidFill>
          <a:ln w="12700">
            <a:solidFill>
              <a:srgbClr val="3B82F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arch"/>
          <p:cNvSpPr txBox="1"/>
          <p:nvPr/>
        </p:nvSpPr>
        <p:spPr>
          <a:xfrm>
            <a:off x="548640" y="3291839"/>
            <a:ext cx="1051560" cy="8686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E6EAF2"/>
                </a:solidFill>
                <a:latin typeface="Segoe UI"/>
                <a:cs typeface="Segoe UI"/>
              </a:rPr>
              <a:t>Browser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20240" y="2103120"/>
            <a:ext cx="2103120" cy="868680"/>
          </a:xfrm>
          <a:prstGeom prst="roundRect">
            <a:avLst>
              <a:gd name="adj" fmla="val 10526"/>
            </a:avLst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arch"/>
          <p:cNvSpPr txBox="1"/>
          <p:nvPr/>
        </p:nvSpPr>
        <p:spPr>
          <a:xfrm>
            <a:off x="1920240" y="2103120"/>
            <a:ext cx="2103120" cy="8686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E6EAF2"/>
                </a:solidFill>
                <a:latin typeface="Segoe UI"/>
                <a:cs typeface="Segoe UI"/>
              </a:rPr>
              <a:t>Firebase Hosting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94A3B8"/>
                </a:solidFill>
                <a:latin typeface="Segoe UI"/>
                <a:cs typeface="Segoe UI"/>
              </a:rPr>
              <a:t>(React app)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0240" y="3291839"/>
            <a:ext cx="2103120" cy="868680"/>
          </a:xfrm>
          <a:prstGeom prst="roundRect">
            <a:avLst>
              <a:gd name="adj" fmla="val 10526"/>
            </a:avLst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h"/>
          <p:cNvSpPr txBox="1"/>
          <p:nvPr/>
        </p:nvSpPr>
        <p:spPr>
          <a:xfrm>
            <a:off x="1920240" y="3291839"/>
            <a:ext cx="2103120" cy="8686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E6EAF2"/>
                </a:solidFill>
                <a:latin typeface="Segoe UI"/>
                <a:cs typeface="Segoe UI"/>
              </a:rPr>
              <a:t>Firestore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94A3B8"/>
                </a:solidFill>
                <a:latin typeface="Segoe UI"/>
                <a:cs typeface="Segoe UI"/>
              </a:rPr>
              <a:t>(security rules)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4480559"/>
            <a:ext cx="2103120" cy="868680"/>
          </a:xfrm>
          <a:prstGeom prst="roundRect">
            <a:avLst>
              <a:gd name="adj" fmla="val 10526"/>
            </a:avLst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arch"/>
          <p:cNvSpPr txBox="1"/>
          <p:nvPr/>
        </p:nvSpPr>
        <p:spPr>
          <a:xfrm>
            <a:off x="1920240" y="4480559"/>
            <a:ext cx="2103120" cy="8686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E6EAF2"/>
                </a:solidFill>
                <a:latin typeface="Segoe UI"/>
                <a:cs typeface="Segoe UI"/>
              </a:rPr>
              <a:t>Cloudflare Worker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94A3B8"/>
                </a:solidFill>
                <a:latin typeface="Segoe UI"/>
                <a:cs typeface="Segoe UI"/>
              </a:rPr>
              <a:t>(AI proxy)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4480559"/>
            <a:ext cx="914400" cy="868680"/>
          </a:xfrm>
          <a:prstGeom prst="roundRect">
            <a:avLst>
              <a:gd name="adj" fmla="val 10526"/>
            </a:avLst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arch"/>
          <p:cNvSpPr txBox="1"/>
          <p:nvPr/>
        </p:nvSpPr>
        <p:spPr>
          <a:xfrm>
            <a:off x="4389120" y="4480559"/>
            <a:ext cx="914400" cy="86868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E6EAF2"/>
                </a:solidFill>
                <a:latin typeface="Segoe UI"/>
                <a:cs typeface="Segoe UI"/>
              </a:rPr>
              <a:t>Gemini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1645920" y="2537460"/>
            <a:ext cx="228600" cy="1188719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</p:spPr>
      </p:cxnSp>
      <p:cxnSp>
        <p:nvCxnSpPr>
          <p:cNvPr id="16" name="Connector 15"/>
          <p:cNvCxnSpPr/>
          <p:nvPr/>
        </p:nvCxnSpPr>
        <p:spPr>
          <a:xfrm>
            <a:off x="1645920" y="3726179"/>
            <a:ext cx="228600" cy="0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</p:spPr>
      </p:cxnSp>
      <p:cxnSp>
        <p:nvCxnSpPr>
          <p:cNvPr id="17" name="Connector 16"/>
          <p:cNvCxnSpPr/>
          <p:nvPr/>
        </p:nvCxnSpPr>
        <p:spPr>
          <a:xfrm>
            <a:off x="1645920" y="3726179"/>
            <a:ext cx="228600" cy="1188720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</p:spPr>
      </p:cxnSp>
      <p:cxnSp>
        <p:nvCxnSpPr>
          <p:cNvPr id="18" name="Connector 17"/>
          <p:cNvCxnSpPr/>
          <p:nvPr/>
        </p:nvCxnSpPr>
        <p:spPr>
          <a:xfrm>
            <a:off x="4069080" y="4914899"/>
            <a:ext cx="274320" cy="0"/>
          </a:xfrm>
          <a:prstGeom prst="line">
            <a:avLst/>
          </a:prstGeom>
          <a:ln w="22225">
            <a:solidFill>
              <a:srgbClr val="94A3B8"/>
            </a:solidFill>
            <a:tailEnd type="triangle" w="med" len="med"/>
          </a:ln>
        </p:spPr>
      </p:cxnSp>
      <p:sp>
        <p:nvSpPr>
          <p:cNvPr id="19" name="bullets"/>
          <p:cNvSpPr txBox="1"/>
          <p:nvPr/>
        </p:nvSpPr>
        <p:spPr>
          <a:xfrm>
            <a:off x="5715000" y="1783080"/>
            <a:ext cx="5928055" cy="43616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3B82F6"/>
              </a:buClr>
              <a:buFont typeface="Arial"/>
              <a:buChar char="•"/>
            </a:pPr>
            <a:r>
              <a:rPr sz="1800" b="1">
                <a:solidFill>
                  <a:srgbClr val="E6EAF2"/>
                </a:solidFill>
                <a:latin typeface="Segoe UI"/>
                <a:cs typeface="Segoe UI"/>
              </a:rPr>
              <a:t>Free platforms: </a:t>
            </a:r>
            <a:r>
              <a:rPr sz="1800" b="0">
                <a:solidFill>
                  <a:srgbClr val="E6EAF2"/>
                </a:solidFill>
                <a:latin typeface="Segoe UI"/>
                <a:cs typeface="Segoe UI"/>
              </a:rPr>
              <a:t>Firebase Hosting + Cloudflare Worker (Cloud Run needs a paid plan)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3B82F6"/>
              </a:buClr>
              <a:buFont typeface="Arial"/>
              <a:buChar char="•"/>
            </a:pPr>
            <a:r>
              <a:rPr sz="1800" b="1">
                <a:solidFill>
                  <a:srgbClr val="E6EAF2"/>
                </a:solidFill>
                <a:latin typeface="Segoe UI"/>
                <a:cs typeface="Segoe UI"/>
              </a:rPr>
              <a:t>Deploy: </a:t>
            </a:r>
            <a:r>
              <a:rPr sz="1800" b="0">
                <a:solidFill>
                  <a:srgbClr val="E6EAF2"/>
                </a:solidFill>
                <a:latin typeface="Segoe UI"/>
                <a:cs typeface="Segoe UI"/>
              </a:rPr>
              <a:t>build → firebase deploy → wrangler deploy, end-to-end run before and after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3B82F6"/>
              </a:buClr>
              <a:buFont typeface="Arial"/>
              <a:buChar char="•"/>
            </a:pPr>
            <a:r>
              <a:rPr sz="1800" b="1">
                <a:solidFill>
                  <a:srgbClr val="E6EAF2"/>
                </a:solidFill>
                <a:latin typeface="Segoe UI"/>
                <a:cs typeface="Segoe UI"/>
              </a:rPr>
              <a:t>Integration: </a:t>
            </a:r>
            <a:r>
              <a:rPr sz="1800" b="0">
                <a:solidFill>
                  <a:srgbClr val="E6EAF2"/>
                </a:solidFill>
                <a:latin typeface="Segoe UI"/>
                <a:cs typeface="Segoe UI"/>
              </a:rPr>
              <a:t>Worker 24/24 · proxy 24/24 · security rules 62/62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3B82F6"/>
              </a:buClr>
              <a:buFont typeface="Arial"/>
              <a:buChar char="•"/>
            </a:pPr>
            <a:r>
              <a:rPr sz="1800" b="1">
                <a:solidFill>
                  <a:srgbClr val="E6EAF2"/>
                </a:solidFill>
                <a:latin typeface="Segoe UI"/>
                <a:cs typeface="Segoe UI"/>
              </a:rPr>
              <a:t>Live site: </a:t>
            </a:r>
            <a:r>
              <a:rPr sz="1800" b="0">
                <a:solidFill>
                  <a:srgbClr val="E6EAF2"/>
                </a:solidFill>
                <a:latin typeface="Segoe UI"/>
                <a:cs typeface="Segoe UI"/>
              </a:rPr>
              <a:t>8/8 end-to-end steps, 0 console errors, page load 0.5 s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rgbClr val="3B82F6"/>
              </a:buClr>
              <a:buFont typeface="Arial"/>
              <a:buChar char="•"/>
            </a:pPr>
            <a:r>
              <a:rPr sz="1800" b="1">
                <a:solidFill>
                  <a:srgbClr val="E6EAF2"/>
                </a:solidFill>
                <a:latin typeface="Segoe UI"/>
                <a:cs typeface="Segoe UI"/>
              </a:rPr>
              <a:t>Users: </a:t>
            </a:r>
            <a:r>
              <a:rPr sz="1800" b="0">
                <a:solidFill>
                  <a:srgbClr val="E6EAF2"/>
                </a:solidFill>
                <a:latin typeface="Segoe UI"/>
                <a:cs typeface="Segoe UI"/>
              </a:rPr>
              <a:t>the client tried the live site; the new UI is not reviewed yet</a:t>
            </a:r>
          </a:p>
        </p:txBody>
      </p:sp>
      <p:sp>
        <p:nvSpPr>
          <p:cNvPr id="20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94A3B8"/>
                </a:solidFill>
                <a:latin typeface="Segoe UI"/>
                <a:cs typeface="Segoe UI"/>
              </a:rPr>
              <a:t>Team 9 · Network Connection Recommendation Platform · Sprint 5</a:t>
            </a:r>
          </a:p>
        </p:txBody>
      </p:sp>
      <p:sp>
        <p:nvSpPr>
          <p:cNvPr id="21" name="pageno"/>
          <p:cNvSpPr txBox="1"/>
          <p:nvPr/>
        </p:nvSpPr>
        <p:spPr>
          <a:xfrm>
            <a:off x="10728655" y="6382512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94A3B8"/>
                </a:solidFill>
                <a:latin typeface="Segoe UI"/>
                <a:cs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548640" y="384048"/>
            <a:ext cx="77724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spc="200">
                <a:solidFill>
                  <a:srgbClr val="3B82F6"/>
                </a:solidFill>
                <a:latin typeface="Segoe UI"/>
                <a:cs typeface="Segoe UI"/>
              </a:rPr>
              <a:t>5 · KANBAN AND TEAM CONTRIBUTIONS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58368"/>
            <a:ext cx="11094415" cy="7498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1">
                <a:solidFill>
                  <a:srgbClr val="E6EAF2"/>
                </a:solidFill>
                <a:latin typeface="Segoe UI"/>
                <a:cs typeface="Segoe UI"/>
              </a:rPr>
              <a:t>Kanban board and contributions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26464"/>
            <a:ext cx="6400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boardcap"/>
          <p:cNvSpPr txBox="1"/>
          <p:nvPr/>
        </p:nvSpPr>
        <p:spPr>
          <a:xfrm>
            <a:off x="548640" y="1755648"/>
            <a:ext cx="5394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94A3B8"/>
                </a:solidFill>
                <a:latin typeface="Segoe UI"/>
                <a:cs typeface="Segoe UI"/>
              </a:rPr>
              <a:t>Board snapshot, Oct 31 (GitHub project, sprint 5 column)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84831"/>
            <a:ext cx="5394960" cy="4059935"/>
          </a:xfrm>
          <a:prstGeom prst="roundRect">
            <a:avLst>
              <a:gd name="adj" fmla="val 1801"/>
            </a:avLst>
          </a:prstGeom>
          <a:solidFill>
            <a:srgbClr val="131C2E"/>
          </a:solidFill>
          <a:ln w="12700">
            <a:solidFill>
              <a:srgbClr val="1E2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oardhead"/>
          <p:cNvSpPr txBox="1"/>
          <p:nvPr/>
        </p:nvSpPr>
        <p:spPr>
          <a:xfrm>
            <a:off x="640080" y="2176272"/>
            <a:ext cx="2331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22C55E"/>
                </a:solidFill>
                <a:latin typeface="Segoe UI"/>
                <a:cs typeface="Segoe UI"/>
              </a:rPr>
              <a:t>Closed (11)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459736"/>
            <a:ext cx="2331720" cy="2743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560320"/>
            <a:ext cx="2331720" cy="268446"/>
          </a:xfrm>
          <a:prstGeom prst="roundRect">
            <a:avLst>
              <a:gd name="adj" fmla="val 13625"/>
            </a:avLst>
          </a:prstGeom>
          <a:solidFill>
            <a:srgbClr val="0B1220"/>
          </a:solidFill>
          <a:ln w="12700">
            <a:solidFill>
              <a:srgbClr val="1E2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card"/>
          <p:cNvSpPr txBox="1"/>
          <p:nvPr/>
        </p:nvSpPr>
        <p:spPr>
          <a:xfrm>
            <a:off x="640080" y="2560320"/>
            <a:ext cx="2331720" cy="268446"/>
          </a:xfrm>
          <a:prstGeom prst="rect">
            <a:avLst/>
          </a:prstGeom>
          <a:noFill/>
        </p:spPr>
        <p:txBody>
          <a:bodyPr wrap="square" lIns="64008" tIns="32004" rIns="64008" bIns="32004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E6EAF2"/>
                </a:solidFill>
                <a:latin typeface="Segoe UI"/>
                <a:cs typeface="Segoe UI"/>
              </a:rPr>
              <a:t>#53 Saved searches</a:t>
            </a:r>
          </a:p>
        </p:txBody>
      </p:sp>
      <p:sp>
        <p:nvSpPr>
          <p:cNvPr id="11" name="cardowner"/>
          <p:cNvSpPr txBox="1"/>
          <p:nvPr/>
        </p:nvSpPr>
        <p:spPr>
          <a:xfrm>
            <a:off x="640080" y="2560320"/>
            <a:ext cx="2331720" cy="268446"/>
          </a:xfrm>
          <a:prstGeom prst="rect">
            <a:avLst/>
          </a:prstGeom>
          <a:noFill/>
        </p:spPr>
        <p:txBody>
          <a:bodyPr wrap="square" lIns="64008" tIns="32004" rIns="64008" bIns="32004" anchor="ctr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22C55E"/>
                </a:solidFill>
                <a:latin typeface="Segoe UI"/>
                <a:cs typeface="Segoe UI"/>
              </a:rPr>
              <a:t>TR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874486"/>
            <a:ext cx="2331720" cy="268446"/>
          </a:xfrm>
          <a:prstGeom prst="roundRect">
            <a:avLst>
              <a:gd name="adj" fmla="val 13625"/>
            </a:avLst>
          </a:prstGeom>
          <a:solidFill>
            <a:srgbClr val="0B1220"/>
          </a:solidFill>
          <a:ln w="12700">
            <a:solidFill>
              <a:srgbClr val="1E2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card"/>
          <p:cNvSpPr txBox="1"/>
          <p:nvPr/>
        </p:nvSpPr>
        <p:spPr>
          <a:xfrm>
            <a:off x="640080" y="2874486"/>
            <a:ext cx="2331720" cy="268446"/>
          </a:xfrm>
          <a:prstGeom prst="rect">
            <a:avLst/>
          </a:prstGeom>
          <a:noFill/>
        </p:spPr>
        <p:txBody>
          <a:bodyPr wrap="square" lIns="64008" tIns="32004" rIns="64008" bIns="32004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E6EAF2"/>
                </a:solidFill>
                <a:latin typeface="Segoe UI"/>
                <a:cs typeface="Segoe UI"/>
              </a:rPr>
              <a:t>#54 Loading state</a:t>
            </a:r>
          </a:p>
        </p:txBody>
      </p:sp>
      <p:sp>
        <p:nvSpPr>
          <p:cNvPr id="14" name="cardowner"/>
          <p:cNvSpPr txBox="1"/>
          <p:nvPr/>
        </p:nvSpPr>
        <p:spPr>
          <a:xfrm>
            <a:off x="640080" y="2874486"/>
            <a:ext cx="2331720" cy="268446"/>
          </a:xfrm>
          <a:prstGeom prst="rect">
            <a:avLst/>
          </a:prstGeom>
          <a:noFill/>
        </p:spPr>
        <p:txBody>
          <a:bodyPr wrap="square" lIns="64008" tIns="32004" rIns="64008" bIns="32004" anchor="ctr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22C55E"/>
                </a:solidFill>
                <a:latin typeface="Segoe UI"/>
                <a:cs typeface="Segoe UI"/>
              </a:rPr>
              <a:t>AQ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188652"/>
            <a:ext cx="2331720" cy="268446"/>
          </a:xfrm>
          <a:prstGeom prst="roundRect">
            <a:avLst>
              <a:gd name="adj" fmla="val 13625"/>
            </a:avLst>
          </a:prstGeom>
          <a:solidFill>
            <a:srgbClr val="0B1220"/>
          </a:solidFill>
          <a:ln w="12700">
            <a:solidFill>
              <a:srgbClr val="1E2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card"/>
          <p:cNvSpPr txBox="1"/>
          <p:nvPr/>
        </p:nvSpPr>
        <p:spPr>
          <a:xfrm>
            <a:off x="640080" y="3188652"/>
            <a:ext cx="2331720" cy="268446"/>
          </a:xfrm>
          <a:prstGeom prst="rect">
            <a:avLst/>
          </a:prstGeom>
          <a:noFill/>
        </p:spPr>
        <p:txBody>
          <a:bodyPr wrap="square" lIns="64008" tIns="32004" rIns="64008" bIns="32004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E6EAF2"/>
                </a:solidFill>
                <a:latin typeface="Segoe UI"/>
                <a:cs typeface="Segoe UI"/>
              </a:rPr>
              <a:t>#55 Rerank race</a:t>
            </a:r>
          </a:p>
        </p:txBody>
      </p:sp>
      <p:sp>
        <p:nvSpPr>
          <p:cNvPr id="17" name="cardowner"/>
          <p:cNvSpPr txBox="1"/>
          <p:nvPr/>
        </p:nvSpPr>
        <p:spPr>
          <a:xfrm>
            <a:off x="640080" y="3188652"/>
            <a:ext cx="2331720" cy="268446"/>
          </a:xfrm>
          <a:prstGeom prst="rect">
            <a:avLst/>
          </a:prstGeom>
          <a:noFill/>
        </p:spPr>
        <p:txBody>
          <a:bodyPr wrap="square" lIns="64008" tIns="32004" rIns="64008" bIns="32004" anchor="ctr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22C55E"/>
                </a:solidFill>
                <a:latin typeface="Segoe UI"/>
                <a:cs typeface="Segoe UI"/>
              </a:rPr>
              <a:t>AQ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502818"/>
            <a:ext cx="2331720" cy="268446"/>
          </a:xfrm>
          <a:prstGeom prst="roundRect">
            <a:avLst>
              <a:gd name="adj" fmla="val 13625"/>
            </a:avLst>
          </a:prstGeom>
          <a:solidFill>
            <a:srgbClr val="0B1220"/>
          </a:solidFill>
          <a:ln w="12700">
            <a:solidFill>
              <a:srgbClr val="1E2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card"/>
          <p:cNvSpPr txBox="1"/>
          <p:nvPr/>
        </p:nvSpPr>
        <p:spPr>
          <a:xfrm>
            <a:off x="640080" y="3502818"/>
            <a:ext cx="2331720" cy="268446"/>
          </a:xfrm>
          <a:prstGeom prst="rect">
            <a:avLst/>
          </a:prstGeom>
          <a:noFill/>
        </p:spPr>
        <p:txBody>
          <a:bodyPr wrap="square" lIns="64008" tIns="32004" rIns="64008" bIns="32004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E6EAF2"/>
                </a:solidFill>
                <a:latin typeface="Segoe UI"/>
                <a:cs typeface="Segoe UI"/>
              </a:rPr>
              <a:t>#56 Marked irrelevant</a:t>
            </a:r>
          </a:p>
        </p:txBody>
      </p:sp>
      <p:sp>
        <p:nvSpPr>
          <p:cNvPr id="20" name="cardowner"/>
          <p:cNvSpPr txBox="1"/>
          <p:nvPr/>
        </p:nvSpPr>
        <p:spPr>
          <a:xfrm>
            <a:off x="640080" y="3502818"/>
            <a:ext cx="2331720" cy="268446"/>
          </a:xfrm>
          <a:prstGeom prst="rect">
            <a:avLst/>
          </a:prstGeom>
          <a:noFill/>
        </p:spPr>
        <p:txBody>
          <a:bodyPr wrap="square" lIns="64008" tIns="32004" rIns="64008" bIns="32004" anchor="ctr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22C55E"/>
                </a:solidFill>
                <a:latin typeface="Segoe UI"/>
                <a:cs typeface="Segoe UI"/>
              </a:rPr>
              <a:t>AQ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816984"/>
            <a:ext cx="2331720" cy="268446"/>
          </a:xfrm>
          <a:prstGeom prst="roundRect">
            <a:avLst>
              <a:gd name="adj" fmla="val 13625"/>
            </a:avLst>
          </a:prstGeom>
          <a:solidFill>
            <a:srgbClr val="0B1220"/>
          </a:solidFill>
          <a:ln w="12700">
            <a:solidFill>
              <a:srgbClr val="1E2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card"/>
          <p:cNvSpPr txBox="1"/>
          <p:nvPr/>
        </p:nvSpPr>
        <p:spPr>
          <a:xfrm>
            <a:off x="640080" y="3816984"/>
            <a:ext cx="2331720" cy="268446"/>
          </a:xfrm>
          <a:prstGeom prst="rect">
            <a:avLst/>
          </a:prstGeom>
          <a:noFill/>
        </p:spPr>
        <p:txBody>
          <a:bodyPr wrap="square" lIns="64008" tIns="32004" rIns="64008" bIns="32004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E6EAF2"/>
                </a:solidFill>
                <a:latin typeface="Segoe UI"/>
                <a:cs typeface="Segoe UI"/>
              </a:rPr>
              <a:t>#57 Move counts</a:t>
            </a:r>
          </a:p>
        </p:txBody>
      </p:sp>
      <p:sp>
        <p:nvSpPr>
          <p:cNvPr id="23" name="cardowner"/>
          <p:cNvSpPr txBox="1"/>
          <p:nvPr/>
        </p:nvSpPr>
        <p:spPr>
          <a:xfrm>
            <a:off x="640080" y="3816984"/>
            <a:ext cx="2331720" cy="268446"/>
          </a:xfrm>
          <a:prstGeom prst="rect">
            <a:avLst/>
          </a:prstGeom>
          <a:noFill/>
        </p:spPr>
        <p:txBody>
          <a:bodyPr wrap="square" lIns="64008" tIns="32004" rIns="64008" bIns="32004" anchor="ctr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22C55E"/>
                </a:solidFill>
                <a:latin typeface="Segoe UI"/>
                <a:cs typeface="Segoe UI"/>
              </a:rPr>
              <a:t>AQ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131151"/>
            <a:ext cx="2331720" cy="268446"/>
          </a:xfrm>
          <a:prstGeom prst="roundRect">
            <a:avLst>
              <a:gd name="adj" fmla="val 13625"/>
            </a:avLst>
          </a:prstGeom>
          <a:solidFill>
            <a:srgbClr val="0B1220"/>
          </a:solidFill>
          <a:ln w="12700">
            <a:solidFill>
              <a:srgbClr val="1E2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card"/>
          <p:cNvSpPr txBox="1"/>
          <p:nvPr/>
        </p:nvSpPr>
        <p:spPr>
          <a:xfrm>
            <a:off x="640080" y="4131151"/>
            <a:ext cx="2331720" cy="268446"/>
          </a:xfrm>
          <a:prstGeom prst="rect">
            <a:avLst/>
          </a:prstGeom>
          <a:noFill/>
        </p:spPr>
        <p:txBody>
          <a:bodyPr wrap="square" lIns="64008" tIns="32004" rIns="64008" bIns="32004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E6EAF2"/>
                </a:solidFill>
                <a:latin typeface="Segoe UI"/>
                <a:cs typeface="Segoe UI"/>
              </a:rPr>
              <a:t>#58 Vote note</a:t>
            </a:r>
          </a:p>
        </p:txBody>
      </p:sp>
      <p:sp>
        <p:nvSpPr>
          <p:cNvPr id="26" name="cardowner"/>
          <p:cNvSpPr txBox="1"/>
          <p:nvPr/>
        </p:nvSpPr>
        <p:spPr>
          <a:xfrm>
            <a:off x="640080" y="4131151"/>
            <a:ext cx="2331720" cy="268446"/>
          </a:xfrm>
          <a:prstGeom prst="rect">
            <a:avLst/>
          </a:prstGeom>
          <a:noFill/>
        </p:spPr>
        <p:txBody>
          <a:bodyPr wrap="square" lIns="64008" tIns="32004" rIns="64008" bIns="32004" anchor="ctr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22C55E"/>
                </a:solidFill>
                <a:latin typeface="Segoe UI"/>
                <a:cs typeface="Segoe UI"/>
              </a:rPr>
              <a:t>AQ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445317"/>
            <a:ext cx="2331720" cy="268446"/>
          </a:xfrm>
          <a:prstGeom prst="roundRect">
            <a:avLst>
              <a:gd name="adj" fmla="val 13625"/>
            </a:avLst>
          </a:prstGeom>
          <a:solidFill>
            <a:srgbClr val="0B1220"/>
          </a:solidFill>
          <a:ln w="12700">
            <a:solidFill>
              <a:srgbClr val="1E2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card"/>
          <p:cNvSpPr txBox="1"/>
          <p:nvPr/>
        </p:nvSpPr>
        <p:spPr>
          <a:xfrm>
            <a:off x="640080" y="4445317"/>
            <a:ext cx="2331720" cy="268446"/>
          </a:xfrm>
          <a:prstGeom prst="rect">
            <a:avLst/>
          </a:prstGeom>
          <a:noFill/>
        </p:spPr>
        <p:txBody>
          <a:bodyPr wrap="square" lIns="64008" tIns="32004" rIns="64008" bIns="32004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E6EAF2"/>
                </a:solidFill>
                <a:latin typeface="Segoe UI"/>
                <a:cs typeface="Segoe UI"/>
              </a:rPr>
              <a:t>#59 Stable ids</a:t>
            </a:r>
          </a:p>
        </p:txBody>
      </p:sp>
      <p:sp>
        <p:nvSpPr>
          <p:cNvPr id="29" name="cardowner"/>
          <p:cNvSpPr txBox="1"/>
          <p:nvPr/>
        </p:nvSpPr>
        <p:spPr>
          <a:xfrm>
            <a:off x="640080" y="4445317"/>
            <a:ext cx="2331720" cy="268446"/>
          </a:xfrm>
          <a:prstGeom prst="rect">
            <a:avLst/>
          </a:prstGeom>
          <a:noFill/>
        </p:spPr>
        <p:txBody>
          <a:bodyPr wrap="square" lIns="64008" tIns="32004" rIns="64008" bIns="32004" anchor="ctr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22C55E"/>
                </a:solidFill>
                <a:latin typeface="Segoe UI"/>
                <a:cs typeface="Segoe UI"/>
              </a:rPr>
              <a:t>AQ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759483"/>
            <a:ext cx="2331720" cy="268446"/>
          </a:xfrm>
          <a:prstGeom prst="roundRect">
            <a:avLst>
              <a:gd name="adj" fmla="val 13625"/>
            </a:avLst>
          </a:prstGeom>
          <a:solidFill>
            <a:srgbClr val="0B1220"/>
          </a:solidFill>
          <a:ln w="12700">
            <a:solidFill>
              <a:srgbClr val="1E2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card"/>
          <p:cNvSpPr txBox="1"/>
          <p:nvPr/>
        </p:nvSpPr>
        <p:spPr>
          <a:xfrm>
            <a:off x="640080" y="4759483"/>
            <a:ext cx="2331720" cy="268446"/>
          </a:xfrm>
          <a:prstGeom prst="rect">
            <a:avLst/>
          </a:prstGeom>
          <a:noFill/>
        </p:spPr>
        <p:txBody>
          <a:bodyPr wrap="square" lIns="64008" tIns="32004" rIns="64008" bIns="32004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E6EAF2"/>
                </a:solidFill>
                <a:latin typeface="Segoe UI"/>
                <a:cs typeface="Segoe UI"/>
              </a:rPr>
              <a:t>#60 Double-click guard</a:t>
            </a:r>
          </a:p>
        </p:txBody>
      </p:sp>
      <p:sp>
        <p:nvSpPr>
          <p:cNvPr id="32" name="cardowner"/>
          <p:cNvSpPr txBox="1"/>
          <p:nvPr/>
        </p:nvSpPr>
        <p:spPr>
          <a:xfrm>
            <a:off x="640080" y="4759483"/>
            <a:ext cx="2331720" cy="268446"/>
          </a:xfrm>
          <a:prstGeom prst="rect">
            <a:avLst/>
          </a:prstGeom>
          <a:noFill/>
        </p:spPr>
        <p:txBody>
          <a:bodyPr wrap="square" lIns="64008" tIns="32004" rIns="64008" bIns="32004" anchor="ctr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22C55E"/>
                </a:solidFill>
                <a:latin typeface="Segoe UI"/>
                <a:cs typeface="Segoe UI"/>
              </a:rPr>
              <a:t>AQ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073649"/>
            <a:ext cx="2331720" cy="268446"/>
          </a:xfrm>
          <a:prstGeom prst="roundRect">
            <a:avLst>
              <a:gd name="adj" fmla="val 13625"/>
            </a:avLst>
          </a:prstGeom>
          <a:solidFill>
            <a:srgbClr val="0B1220"/>
          </a:solidFill>
          <a:ln w="12700">
            <a:solidFill>
              <a:srgbClr val="1E2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card"/>
          <p:cNvSpPr txBox="1"/>
          <p:nvPr/>
        </p:nvSpPr>
        <p:spPr>
          <a:xfrm>
            <a:off x="640080" y="5073649"/>
            <a:ext cx="2331720" cy="268446"/>
          </a:xfrm>
          <a:prstGeom prst="rect">
            <a:avLst/>
          </a:prstGeom>
          <a:noFill/>
        </p:spPr>
        <p:txBody>
          <a:bodyPr wrap="square" lIns="64008" tIns="32004" rIns="64008" bIns="32004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E6EAF2"/>
                </a:solidFill>
                <a:latin typeface="Segoe UI"/>
                <a:cs typeface="Segoe UI"/>
              </a:rPr>
              <a:t>#61 Shared graph</a:t>
            </a:r>
          </a:p>
        </p:txBody>
      </p:sp>
      <p:sp>
        <p:nvSpPr>
          <p:cNvPr id="35" name="cardowner"/>
          <p:cNvSpPr txBox="1"/>
          <p:nvPr/>
        </p:nvSpPr>
        <p:spPr>
          <a:xfrm>
            <a:off x="640080" y="5073649"/>
            <a:ext cx="2331720" cy="268446"/>
          </a:xfrm>
          <a:prstGeom prst="rect">
            <a:avLst/>
          </a:prstGeom>
          <a:noFill/>
        </p:spPr>
        <p:txBody>
          <a:bodyPr wrap="square" lIns="64008" tIns="32004" rIns="64008" bIns="32004" anchor="ctr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22C55E"/>
                </a:solidFill>
                <a:latin typeface="Segoe UI"/>
                <a:cs typeface="Segoe UI"/>
              </a:rPr>
              <a:t>TR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5387816"/>
            <a:ext cx="2331720" cy="268446"/>
          </a:xfrm>
          <a:prstGeom prst="roundRect">
            <a:avLst>
              <a:gd name="adj" fmla="val 13625"/>
            </a:avLst>
          </a:prstGeom>
          <a:solidFill>
            <a:srgbClr val="0B1220"/>
          </a:solidFill>
          <a:ln w="12700">
            <a:solidFill>
              <a:srgbClr val="1E2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card"/>
          <p:cNvSpPr txBox="1"/>
          <p:nvPr/>
        </p:nvSpPr>
        <p:spPr>
          <a:xfrm>
            <a:off x="640080" y="5387816"/>
            <a:ext cx="2331720" cy="268446"/>
          </a:xfrm>
          <a:prstGeom prst="rect">
            <a:avLst/>
          </a:prstGeom>
          <a:noFill/>
        </p:spPr>
        <p:txBody>
          <a:bodyPr wrap="square" lIns="64008" tIns="32004" rIns="64008" bIns="32004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E6EAF2"/>
                </a:solidFill>
                <a:latin typeface="Segoe UI"/>
                <a:cs typeface="Segoe UI"/>
              </a:rPr>
              <a:t>#64 Cloudflare AI proxy</a:t>
            </a:r>
          </a:p>
        </p:txBody>
      </p:sp>
      <p:sp>
        <p:nvSpPr>
          <p:cNvPr id="38" name="cardowner"/>
          <p:cNvSpPr txBox="1"/>
          <p:nvPr/>
        </p:nvSpPr>
        <p:spPr>
          <a:xfrm>
            <a:off x="640080" y="5387816"/>
            <a:ext cx="2331720" cy="268446"/>
          </a:xfrm>
          <a:prstGeom prst="rect">
            <a:avLst/>
          </a:prstGeom>
          <a:noFill/>
        </p:spPr>
        <p:txBody>
          <a:bodyPr wrap="square" lIns="64008" tIns="32004" rIns="64008" bIns="32004" anchor="ctr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22C55E"/>
                </a:solidFill>
                <a:latin typeface="Segoe UI"/>
                <a:cs typeface="Segoe UI"/>
              </a:rPr>
              <a:t>AQ+TR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701982"/>
            <a:ext cx="2331720" cy="268446"/>
          </a:xfrm>
          <a:prstGeom prst="roundRect">
            <a:avLst>
              <a:gd name="adj" fmla="val 13625"/>
            </a:avLst>
          </a:prstGeom>
          <a:solidFill>
            <a:srgbClr val="0B1220"/>
          </a:solidFill>
          <a:ln w="12700">
            <a:solidFill>
              <a:srgbClr val="1E2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card"/>
          <p:cNvSpPr txBox="1"/>
          <p:nvPr/>
        </p:nvSpPr>
        <p:spPr>
          <a:xfrm>
            <a:off x="640080" y="5701982"/>
            <a:ext cx="2331720" cy="268446"/>
          </a:xfrm>
          <a:prstGeom prst="rect">
            <a:avLst/>
          </a:prstGeom>
          <a:noFill/>
        </p:spPr>
        <p:txBody>
          <a:bodyPr wrap="square" lIns="64008" tIns="32004" rIns="64008" bIns="32004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E6EAF2"/>
                </a:solidFill>
                <a:latin typeface="Segoe UI"/>
                <a:cs typeface="Segoe UI"/>
              </a:rPr>
              <a:t>#66 Meaning search</a:t>
            </a:r>
          </a:p>
        </p:txBody>
      </p:sp>
      <p:sp>
        <p:nvSpPr>
          <p:cNvPr id="41" name="cardowner"/>
          <p:cNvSpPr txBox="1"/>
          <p:nvPr/>
        </p:nvSpPr>
        <p:spPr>
          <a:xfrm>
            <a:off x="640080" y="5701982"/>
            <a:ext cx="2331720" cy="268446"/>
          </a:xfrm>
          <a:prstGeom prst="rect">
            <a:avLst/>
          </a:prstGeom>
          <a:noFill/>
        </p:spPr>
        <p:txBody>
          <a:bodyPr wrap="square" lIns="64008" tIns="32004" rIns="64008" bIns="32004" anchor="ctr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22C55E"/>
                </a:solidFill>
                <a:latin typeface="Segoe UI"/>
                <a:cs typeface="Segoe UI"/>
              </a:rPr>
              <a:t>TR</a:t>
            </a:r>
          </a:p>
        </p:txBody>
      </p:sp>
      <p:sp>
        <p:nvSpPr>
          <p:cNvPr id="42" name="boardhead"/>
          <p:cNvSpPr txBox="1"/>
          <p:nvPr/>
        </p:nvSpPr>
        <p:spPr>
          <a:xfrm>
            <a:off x="3063239" y="2176272"/>
            <a:ext cx="14173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F59E0B"/>
                </a:solidFill>
                <a:latin typeface="Segoe UI"/>
                <a:cs typeface="Segoe UI"/>
              </a:rPr>
              <a:t>Open (3)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63239" y="2459736"/>
            <a:ext cx="1417320" cy="274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063239" y="2560320"/>
            <a:ext cx="1417320" cy="454596"/>
          </a:xfrm>
          <a:prstGeom prst="roundRect">
            <a:avLst>
              <a:gd name="adj" fmla="val 8045"/>
            </a:avLst>
          </a:prstGeom>
          <a:solidFill>
            <a:srgbClr val="0B1220"/>
          </a:solidFill>
          <a:ln w="12700">
            <a:solidFill>
              <a:srgbClr val="1E2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card"/>
          <p:cNvSpPr txBox="1"/>
          <p:nvPr/>
        </p:nvSpPr>
        <p:spPr>
          <a:xfrm>
            <a:off x="3063239" y="2560320"/>
            <a:ext cx="1417320" cy="454596"/>
          </a:xfrm>
          <a:prstGeom prst="rect">
            <a:avLst/>
          </a:prstGeom>
          <a:noFill/>
        </p:spPr>
        <p:txBody>
          <a:bodyPr wrap="square" lIns="64008" tIns="32004" rIns="64008" bIns="32004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E6EAF2"/>
                </a:solidFill>
                <a:latin typeface="Segoe UI"/>
                <a:cs typeface="Segoe UI"/>
              </a:rPr>
              <a:t>#52 AI enrichment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F59E0B"/>
                </a:solidFill>
                <a:latin typeface="Segoe UI"/>
                <a:cs typeface="Segoe UI"/>
              </a:rPr>
              <a:t>AQ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063239" y="3060636"/>
            <a:ext cx="1417320" cy="454596"/>
          </a:xfrm>
          <a:prstGeom prst="roundRect">
            <a:avLst>
              <a:gd name="adj" fmla="val 8045"/>
            </a:avLst>
          </a:prstGeom>
          <a:solidFill>
            <a:srgbClr val="0B1220"/>
          </a:solidFill>
          <a:ln w="12700">
            <a:solidFill>
              <a:srgbClr val="1E2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card"/>
          <p:cNvSpPr txBox="1"/>
          <p:nvPr/>
        </p:nvSpPr>
        <p:spPr>
          <a:xfrm>
            <a:off x="3063239" y="3060636"/>
            <a:ext cx="1417320" cy="454596"/>
          </a:xfrm>
          <a:prstGeom prst="rect">
            <a:avLst/>
          </a:prstGeom>
          <a:noFill/>
        </p:spPr>
        <p:txBody>
          <a:bodyPr wrap="square" lIns="64008" tIns="32004" rIns="64008" bIns="32004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E6EAF2"/>
                </a:solidFill>
                <a:latin typeface="Segoe UI"/>
                <a:cs typeface="Segoe UI"/>
              </a:rPr>
              <a:t>#65 CI + proxy tests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F59E0B"/>
                </a:solidFill>
                <a:latin typeface="Segoe UI"/>
                <a:cs typeface="Segoe UI"/>
              </a:rPr>
              <a:t>AQ+TR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063239" y="3560953"/>
            <a:ext cx="1417320" cy="454596"/>
          </a:xfrm>
          <a:prstGeom prst="roundRect">
            <a:avLst>
              <a:gd name="adj" fmla="val 8045"/>
            </a:avLst>
          </a:prstGeom>
          <a:solidFill>
            <a:srgbClr val="0B1220"/>
          </a:solidFill>
          <a:ln w="12700">
            <a:solidFill>
              <a:srgbClr val="1E2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card"/>
          <p:cNvSpPr txBox="1"/>
          <p:nvPr/>
        </p:nvSpPr>
        <p:spPr>
          <a:xfrm>
            <a:off x="3063239" y="3560953"/>
            <a:ext cx="1417320" cy="454596"/>
          </a:xfrm>
          <a:prstGeom prst="rect">
            <a:avLst/>
          </a:prstGeom>
          <a:noFill/>
        </p:spPr>
        <p:txBody>
          <a:bodyPr wrap="square" lIns="64008" tIns="32004" rIns="64008" bIns="32004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E6EAF2"/>
                </a:solidFill>
                <a:latin typeface="Segoe UI"/>
                <a:cs typeface="Segoe UI"/>
              </a:rPr>
              <a:t>#67 SQL insights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F59E0B"/>
                </a:solidFill>
                <a:latin typeface="Segoe UI"/>
                <a:cs typeface="Segoe UI"/>
              </a:rPr>
              <a:t>TR</a:t>
            </a:r>
          </a:p>
        </p:txBody>
      </p:sp>
      <p:sp>
        <p:nvSpPr>
          <p:cNvPr id="50" name="boardhead"/>
          <p:cNvSpPr txBox="1"/>
          <p:nvPr/>
        </p:nvSpPr>
        <p:spPr>
          <a:xfrm>
            <a:off x="4572000" y="2176272"/>
            <a:ext cx="12801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94A3B8"/>
                </a:solidFill>
                <a:latin typeface="Segoe UI"/>
                <a:cs typeface="Segoe UI"/>
              </a:rPr>
              <a:t>Backlog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0" y="2459736"/>
            <a:ext cx="1280160" cy="2743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4572000" y="2560320"/>
            <a:ext cx="1280160" cy="454596"/>
          </a:xfrm>
          <a:prstGeom prst="roundRect">
            <a:avLst>
              <a:gd name="adj" fmla="val 8045"/>
            </a:avLst>
          </a:prstGeom>
          <a:solidFill>
            <a:srgbClr val="0B1220"/>
          </a:solidFill>
          <a:ln w="12700">
            <a:solidFill>
              <a:srgbClr val="1E2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card"/>
          <p:cNvSpPr txBox="1"/>
          <p:nvPr/>
        </p:nvSpPr>
        <p:spPr>
          <a:xfrm>
            <a:off x="4572000" y="2560320"/>
            <a:ext cx="1280160" cy="454596"/>
          </a:xfrm>
          <a:prstGeom prst="rect">
            <a:avLst/>
          </a:prstGeom>
          <a:noFill/>
        </p:spPr>
        <p:txBody>
          <a:bodyPr wrap="square" lIns="64008" tIns="32004" rIns="64008" bIns="32004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E6EAF2"/>
                </a:solidFill>
                <a:latin typeface="Segoe UI"/>
                <a:cs typeface="Segoe UI"/>
              </a:rPr>
              <a:t>#62 UI redesign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94A3B8"/>
                </a:solidFill>
                <a:latin typeface="Segoe UI"/>
                <a:cs typeface="Segoe UI"/>
              </a:rPr>
              <a:t>AQ+TR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0" y="3060636"/>
            <a:ext cx="1280160" cy="454596"/>
          </a:xfrm>
          <a:prstGeom prst="roundRect">
            <a:avLst>
              <a:gd name="adj" fmla="val 8045"/>
            </a:avLst>
          </a:prstGeom>
          <a:solidFill>
            <a:srgbClr val="0B1220"/>
          </a:solidFill>
          <a:ln w="12700">
            <a:solidFill>
              <a:srgbClr val="1E2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card"/>
          <p:cNvSpPr txBox="1"/>
          <p:nvPr/>
        </p:nvSpPr>
        <p:spPr>
          <a:xfrm>
            <a:off x="4572000" y="3060636"/>
            <a:ext cx="1280160" cy="454596"/>
          </a:xfrm>
          <a:prstGeom prst="rect">
            <a:avLst/>
          </a:prstGeom>
          <a:noFill/>
        </p:spPr>
        <p:txBody>
          <a:bodyPr wrap="square" lIns="64008" tIns="32004" rIns="64008" bIns="32004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E6EAF2"/>
                </a:solidFill>
                <a:latin typeface="Segoe UI"/>
                <a:cs typeface="Segoe UI"/>
              </a:rPr>
              <a:t>#63 New tests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94A3B8"/>
                </a:solidFill>
                <a:latin typeface="Segoe UI"/>
                <a:cs typeface="Segoe UI"/>
              </a:rPr>
              <a:t>TR</a:t>
            </a:r>
          </a:p>
        </p:txBody>
      </p:sp>
      <p:sp>
        <p:nvSpPr>
          <p:cNvPr id="56" name="bullets"/>
          <p:cNvSpPr txBox="1"/>
          <p:nvPr/>
        </p:nvSpPr>
        <p:spPr>
          <a:xfrm>
            <a:off x="6309360" y="1783080"/>
            <a:ext cx="5333695" cy="43616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0">
                <a:solidFill>
                  <a:srgbClr val="E6EAF2"/>
                </a:solidFill>
                <a:latin typeface="Segoe UI"/>
                <a:cs typeface="Segoe UI"/>
              </a:rPr>
              <a:t>14 issues in the Sprint 5 column: 11 closed, 3 open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1">
                <a:solidFill>
                  <a:srgbClr val="E6EAF2"/>
                </a:solidFill>
                <a:latin typeface="Segoe UI"/>
                <a:cs typeface="Segoe UI"/>
              </a:rPr>
              <a:t>Alan Qiu: </a:t>
            </a:r>
            <a:r>
              <a:rPr sz="2000" b="0">
                <a:solidFill>
                  <a:srgbClr val="E6EAF2"/>
                </a:solidFill>
                <a:latin typeface="Segoe UI"/>
                <a:cs typeface="Segoe UI"/>
              </a:rPr>
              <a:t>#54–#60 feedback fixes, #64 AI proxy, #65 CI tests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1">
                <a:solidFill>
                  <a:srgbClr val="E6EAF2"/>
                </a:solidFill>
                <a:latin typeface="Segoe UI"/>
                <a:cs typeface="Segoe UI"/>
              </a:rPr>
              <a:t>Tz-Ray Wang: </a:t>
            </a:r>
            <a:r>
              <a:rPr sz="2000" b="0">
                <a:solidFill>
                  <a:srgbClr val="E6EAF2"/>
                </a:solidFill>
                <a:latin typeface="Segoe UI"/>
                <a:cs typeface="Segoe UI"/>
              </a:rPr>
              <a:t>#53 saved searches, #61 graph, #66 meaning search, #64, #67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1">
                <a:solidFill>
                  <a:srgbClr val="E6EAF2"/>
                </a:solidFill>
                <a:latin typeface="Segoe UI"/>
                <a:cs typeface="Segoe UI"/>
              </a:rPr>
              <a:t>Backlog: </a:t>
            </a:r>
            <a:r>
              <a:rPr sz="2000" b="0">
                <a:solidFill>
                  <a:srgbClr val="E6EAF2"/>
                </a:solidFill>
                <a:latin typeface="Segoe UI"/>
                <a:cs typeface="Segoe UI"/>
              </a:rPr>
              <a:t>#62 UI redesign (both), #63 new tests</a:t>
            </a:r>
          </a:p>
        </p:txBody>
      </p:sp>
      <p:sp>
        <p:nvSpPr>
          <p:cNvPr id="57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94A3B8"/>
                </a:solidFill>
                <a:latin typeface="Segoe UI"/>
                <a:cs typeface="Segoe UI"/>
              </a:rPr>
              <a:t>Team 9 · Network Connection Recommendation Platform · Sprint 5</a:t>
            </a:r>
          </a:p>
        </p:txBody>
      </p:sp>
      <p:sp>
        <p:nvSpPr>
          <p:cNvPr id="58" name="pageno"/>
          <p:cNvSpPr txBox="1"/>
          <p:nvPr/>
        </p:nvSpPr>
        <p:spPr>
          <a:xfrm>
            <a:off x="10728655" y="6382512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94A3B8"/>
                </a:solidFill>
                <a:latin typeface="Segoe UI"/>
                <a:cs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548640" y="384048"/>
            <a:ext cx="77724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spc="200">
                <a:solidFill>
                  <a:srgbClr val="3B82F6"/>
                </a:solidFill>
                <a:latin typeface="Segoe UI"/>
                <a:cs typeface="Segoe UI"/>
              </a:rPr>
              <a:t>6 · SPRINT REPORT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58368"/>
            <a:ext cx="11094415" cy="7498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1">
                <a:solidFill>
                  <a:srgbClr val="E6EAF2"/>
                </a:solidFill>
                <a:latin typeface="Segoe UI"/>
                <a:cs typeface="Segoe UI"/>
              </a:rPr>
              <a:t>Sprint 5 report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26464"/>
            <a:ext cx="6400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bullets"/>
          <p:cNvSpPr txBox="1"/>
          <p:nvPr/>
        </p:nvSpPr>
        <p:spPr>
          <a:xfrm>
            <a:off x="548640" y="1783080"/>
            <a:ext cx="11094415" cy="43616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0">
                <a:solidFill>
                  <a:srgbClr val="E6EAF2"/>
                </a:solidFill>
                <a:latin typeface="Segoe UI"/>
                <a:cs typeface="Segoe UI"/>
              </a:rPr>
              <a:t>reports/sprint-5/sprint-5-report.md, on the course template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0">
                <a:solidFill>
                  <a:srgbClr val="E6EAF2"/>
                </a:solidFill>
                <a:latin typeface="Segoe UI"/>
                <a:cs typeface="Segoe UI"/>
              </a:rPr>
              <a:t>New this sprint: deliverables vs plan table, testing table, GenAI section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0">
                <a:solidFill>
                  <a:srgbClr val="E6EAF2"/>
                </a:solidFill>
                <a:latin typeface="Segoe UI"/>
                <a:cs typeface="Segoe UI"/>
              </a:rPr>
              <a:t>What's New: 5 user-facing features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0">
                <a:solidFill>
                  <a:srgbClr val="E6EAF2"/>
                </a:solidFill>
                <a:latin typeface="Segoe UI"/>
                <a:cs typeface="Segoe UI"/>
              </a:rPr>
              <a:t>11 completed issues; 8 incomplete, each with a reason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0">
                <a:solidFill>
                  <a:srgbClr val="E6EAF2"/>
                </a:solidFill>
                <a:latin typeface="Segoe UI"/>
                <a:cs typeface="Segoe UI"/>
              </a:rPr>
              <a:t>README updated: install, features, known problems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94A3B8"/>
                </a:solidFill>
                <a:latin typeface="Segoe UI"/>
                <a:cs typeface="Segoe UI"/>
              </a:rPr>
              <a:t>Team 9 · Network Connection Recommendation Platform · Sprint 5</a:t>
            </a:r>
          </a:p>
        </p:txBody>
      </p:sp>
      <p:sp>
        <p:nvSpPr>
          <p:cNvPr id="7" name="pageno"/>
          <p:cNvSpPr txBox="1"/>
          <p:nvPr/>
        </p:nvSpPr>
        <p:spPr>
          <a:xfrm>
            <a:off x="10728655" y="6382512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94A3B8"/>
                </a:solidFill>
                <a:latin typeface="Segoe UI"/>
                <a:cs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548640" y="384048"/>
            <a:ext cx="77724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spc="200">
                <a:solidFill>
                  <a:srgbClr val="3B82F6"/>
                </a:solidFill>
                <a:latin typeface="Segoe UI"/>
                <a:cs typeface="Segoe UI"/>
              </a:rPr>
              <a:t>7 · CLIENT MEETINGS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58368"/>
            <a:ext cx="11094415" cy="7498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1">
                <a:solidFill>
                  <a:srgbClr val="E6EAF2"/>
                </a:solidFill>
                <a:latin typeface="Segoe UI"/>
                <a:cs typeface="Segoe UI"/>
              </a:rPr>
              <a:t>Client meetings (minutes on GitHub)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26464"/>
            <a:ext cx="6400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bullets"/>
          <p:cNvSpPr txBox="1"/>
          <p:nvPr/>
        </p:nvSpPr>
        <p:spPr>
          <a:xfrm>
            <a:off x="548640" y="1783080"/>
            <a:ext cx="11094415" cy="43616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1">
                <a:solidFill>
                  <a:srgbClr val="E6EAF2"/>
                </a:solidFill>
                <a:latin typeface="Segoe UI"/>
                <a:cs typeface="Segoe UI"/>
              </a:rPr>
              <a:t>Oct 6 (#4): </a:t>
            </a:r>
            <a:r>
              <a:rPr sz="2000" b="0">
                <a:solidFill>
                  <a:srgbClr val="E6EAF2"/>
                </a:solidFill>
                <a:latin typeface="Segoe UI"/>
                <a:cs typeface="Segoe UI"/>
              </a:rPr>
              <a:t>Sprint 4 demo, Sprint 5 plan, repo stays public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0">
                <a:solidFill>
                  <a:srgbClr val="E6EAF2"/>
                </a:solidFill>
                <a:latin typeface="Segoe UI"/>
                <a:cs typeface="Segoe UI"/>
              </a:rPr>
              <a:t>Client liked the demo and the Chrome extension idea (kept out of scope)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1">
                <a:solidFill>
                  <a:srgbClr val="E6EAF2"/>
                </a:solidFill>
                <a:latin typeface="Segoe UI"/>
                <a:cs typeface="Segoe UI"/>
              </a:rPr>
              <a:t>Oct 27 (#5): </a:t>
            </a:r>
            <a:r>
              <a:rPr sz="2000" b="0">
                <a:solidFill>
                  <a:srgbClr val="E6EAF2"/>
                </a:solidFill>
                <a:latin typeface="Segoe UI"/>
                <a:cs typeface="Segoe UI"/>
              </a:rPr>
              <a:t>progress update; poster event in December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0">
                <a:solidFill>
                  <a:srgbClr val="E6EAF2"/>
                </a:solidFill>
                <a:latin typeface="Segoe UI"/>
                <a:cs typeface="Segoe UI"/>
              </a:rPr>
              <a:t>Client: "a good update"; email updates "very helpful"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1">
                <a:solidFill>
                  <a:srgbClr val="E6EAF2"/>
                </a:solidFill>
                <a:latin typeface="Segoe UI"/>
                <a:cs typeface="Segoe UI"/>
              </a:rPr>
              <a:t>Files: </a:t>
            </a:r>
            <a:r>
              <a:rPr sz="2000" b="0">
                <a:solidFill>
                  <a:srgbClr val="E6EAF2"/>
                </a:solidFill>
                <a:latin typeface="Segoe UI"/>
                <a:cs typeface="Segoe UI"/>
              </a:rPr>
              <a:t>reports/sprint-5/minutes/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94A3B8"/>
                </a:solidFill>
                <a:latin typeface="Segoe UI"/>
                <a:cs typeface="Segoe UI"/>
              </a:rPr>
              <a:t>Team 9 · Network Connection Recommendation Platform · Sprint 5</a:t>
            </a:r>
          </a:p>
        </p:txBody>
      </p:sp>
      <p:sp>
        <p:nvSpPr>
          <p:cNvPr id="7" name="pageno"/>
          <p:cNvSpPr txBox="1"/>
          <p:nvPr/>
        </p:nvSpPr>
        <p:spPr>
          <a:xfrm>
            <a:off x="10728655" y="6382512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94A3B8"/>
                </a:solidFill>
                <a:latin typeface="Segoe UI"/>
                <a:cs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548640" y="384048"/>
            <a:ext cx="77724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spc="200">
                <a:solidFill>
                  <a:srgbClr val="3B82F6"/>
                </a:solidFill>
                <a:latin typeface="Segoe UI"/>
                <a:cs typeface="Segoe UI"/>
              </a:rPr>
              <a:t>8 · RESPONSIBLE USE OF GENERATIVE AI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58368"/>
            <a:ext cx="11094415" cy="7498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1">
                <a:solidFill>
                  <a:srgbClr val="E6EAF2"/>
                </a:solidFill>
                <a:latin typeface="Segoe UI"/>
                <a:cs typeface="Segoe UI"/>
              </a:rPr>
              <a:t>Responsible use of generative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26464"/>
            <a:ext cx="6400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bullets"/>
          <p:cNvSpPr txBox="1"/>
          <p:nvPr/>
        </p:nvSpPr>
        <p:spPr>
          <a:xfrm>
            <a:off x="548640" y="1783080"/>
            <a:ext cx="11094415" cy="43616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1">
                <a:solidFill>
                  <a:srgbClr val="E6EAF2"/>
                </a:solidFill>
                <a:latin typeface="Segoe UI"/>
                <a:cs typeface="Segoe UI"/>
              </a:rPr>
              <a:t>Claude Code: </a:t>
            </a:r>
            <a:r>
              <a:rPr sz="2000" b="0">
                <a:solidFill>
                  <a:srgbClr val="E6EAF2"/>
                </a:solidFill>
                <a:latin typeface="Segoe UI"/>
                <a:cs typeface="Segoe UI"/>
              </a:rPr>
              <a:t>code and test drafts, reviews, minutes and report drafts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1">
                <a:solidFill>
                  <a:srgbClr val="E6EAF2"/>
                </a:solidFill>
                <a:latin typeface="Segoe UI"/>
                <a:cs typeface="Segoe UI"/>
              </a:rPr>
              <a:t>Gemini in the app: </a:t>
            </a:r>
            <a:r>
              <a:rPr sz="2000" b="0">
                <a:solidFill>
                  <a:srgbClr val="E6EAF2"/>
                </a:solidFill>
                <a:latin typeface="Segoe UI"/>
                <a:cs typeface="Segoe UI"/>
              </a:rPr>
              <a:t>only short derived summaries sent; off unless allowed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1">
                <a:solidFill>
                  <a:srgbClr val="E6EAF2"/>
                </a:solidFill>
                <a:latin typeface="Segoe UI"/>
                <a:cs typeface="Segoe UI"/>
              </a:rPr>
              <a:t>Checked by </a:t>
            </a:r>
            <a:r>
              <a:rPr sz="2000" b="0">
                <a:solidFill>
                  <a:srgbClr val="E6EAF2"/>
                </a:solidFill>
                <a:latin typeface="Segoe UI"/>
                <a:cs typeface="Segoe UI"/>
              </a:rPr>
              <a:t>type check, tests, end-to-end runs, privacy scan before push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1">
                <a:solidFill>
                  <a:srgbClr val="E6EAF2"/>
                </a:solidFill>
                <a:latin typeface="Segoe UI"/>
                <a:cs typeface="Segoe UI"/>
              </a:rPr>
              <a:t>Limits seen: </a:t>
            </a:r>
            <a:r>
              <a:rPr sz="2000" b="0">
                <a:solidFill>
                  <a:srgbClr val="E6EAF2"/>
                </a:solidFill>
                <a:latin typeface="Segoe UI"/>
                <a:cs typeface="Segoe UI"/>
              </a:rPr>
              <a:t>overfit ranker (0.994 tuning vs 0.687 blind); a bug caught by tests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0">
                <a:solidFill>
                  <a:srgbClr val="E6EAF2"/>
                </a:solidFill>
                <a:latin typeface="Segoe UI"/>
                <a:cs typeface="Segoe UI"/>
              </a:rPr>
              <a:t>The team reviews and decides; we own every deliverable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94A3B8"/>
                </a:solidFill>
                <a:latin typeface="Segoe UI"/>
                <a:cs typeface="Segoe UI"/>
              </a:rPr>
              <a:t>Team 9 · Network Connection Recommendation Platform · Sprint 5</a:t>
            </a:r>
          </a:p>
        </p:txBody>
      </p:sp>
      <p:sp>
        <p:nvSpPr>
          <p:cNvPr id="7" name="pageno"/>
          <p:cNvSpPr txBox="1"/>
          <p:nvPr/>
        </p:nvSpPr>
        <p:spPr>
          <a:xfrm>
            <a:off x="10728655" y="6382512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94A3B8"/>
                </a:solidFill>
                <a:latin typeface="Segoe UI"/>
                <a:cs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548640" y="384048"/>
            <a:ext cx="77724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spc="200">
                <a:solidFill>
                  <a:srgbClr val="3B82F6"/>
                </a:solidFill>
                <a:latin typeface="Segoe UI"/>
                <a:cs typeface="Segoe UI"/>
              </a:rPr>
              <a:t>9 · ACHIEVEMENTS AND CHALLENGES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58368"/>
            <a:ext cx="11094415" cy="7498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1">
                <a:solidFill>
                  <a:srgbClr val="E6EAF2"/>
                </a:solidFill>
                <a:latin typeface="Segoe UI"/>
                <a:cs typeface="Segoe UI"/>
              </a:rPr>
              <a:t>Achievements and challenges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26464"/>
            <a:ext cx="6400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bullets"/>
          <p:cNvSpPr txBox="1"/>
          <p:nvPr/>
        </p:nvSpPr>
        <p:spPr>
          <a:xfrm>
            <a:off x="548640" y="1783080"/>
            <a:ext cx="11094415" cy="43616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1">
                <a:solidFill>
                  <a:srgbClr val="22C55E"/>
                </a:solidFill>
                <a:latin typeface="Segoe UI"/>
                <a:cs typeface="Segoe UI"/>
              </a:rPr>
              <a:t>Achieved: </a:t>
            </a:r>
            <a:r>
              <a:rPr sz="2000" b="0">
                <a:solidFill>
                  <a:srgbClr val="E6EAF2"/>
                </a:solidFill>
                <a:latin typeface="Segoe UI"/>
                <a:cs typeface="Segoe UI"/>
              </a:rPr>
              <a:t>AI on the live site, 3 new features live, all 4 plan items done or mostly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0">
                <a:solidFill>
                  <a:srgbClr val="E6EAF2"/>
                </a:solidFill>
                <a:latin typeface="Segoe UI"/>
                <a:cs typeface="Segoe UI"/>
              </a:rPr>
              <a:t>No paid plans → free Cloudflare Worker instead of Cloud Run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0">
                <a:solidFill>
                  <a:srgbClr val="E6EAF2"/>
                </a:solidFill>
                <a:latin typeface="Segoe UI"/>
                <a:cs typeface="Segoe UI"/>
              </a:rPr>
              <a:t>Gemini free tier (20 a day) → allowlist, daily caps, fallback model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0">
                <a:solidFill>
                  <a:srgbClr val="E6EAF2"/>
                </a:solidFill>
                <a:latin typeface="Segoe UI"/>
                <a:cs typeface="Segoe UI"/>
              </a:rPr>
              <a:t>23 MB model → off by default, Web Worker, browser cache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1">
                <a:solidFill>
                  <a:srgbClr val="3B82F6"/>
                </a:solidFill>
                <a:latin typeface="Segoe UI"/>
                <a:cs typeface="Segoe UI"/>
              </a:rPr>
              <a:t>Since Sprint 4: </a:t>
            </a:r>
            <a:r>
              <a:rPr sz="2000" b="0">
                <a:solidFill>
                  <a:srgbClr val="E6EAF2"/>
                </a:solidFill>
                <a:latin typeface="Segoe UI"/>
                <a:cs typeface="Segoe UI"/>
              </a:rPr>
              <a:t>AI off → on; 7 defects fixed; saved searches done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94A3B8"/>
                </a:solidFill>
                <a:latin typeface="Segoe UI"/>
                <a:cs typeface="Segoe UI"/>
              </a:rPr>
              <a:t>Team 9 · Network Connection Recommendation Platform · Sprint 5</a:t>
            </a:r>
          </a:p>
        </p:txBody>
      </p:sp>
      <p:sp>
        <p:nvSpPr>
          <p:cNvPr id="7" name="pageno"/>
          <p:cNvSpPr txBox="1"/>
          <p:nvPr/>
        </p:nvSpPr>
        <p:spPr>
          <a:xfrm>
            <a:off x="10728655" y="6382512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94A3B8"/>
                </a:solidFill>
                <a:latin typeface="Segoe UI"/>
                <a:cs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548640" y="384048"/>
            <a:ext cx="77724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spc="200">
                <a:solidFill>
                  <a:srgbClr val="3B82F6"/>
                </a:solidFill>
                <a:latin typeface="Segoe UI"/>
                <a:cs typeface="Segoe UI"/>
              </a:rPr>
              <a:t>10 · NEXT STEPS AND RETROSPECTIVE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58368"/>
            <a:ext cx="11094415" cy="7498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1">
                <a:solidFill>
                  <a:srgbClr val="E6EAF2"/>
                </a:solidFill>
                <a:latin typeface="Segoe UI"/>
                <a:cs typeface="Segoe UI"/>
              </a:rPr>
              <a:t>Sprint 6 plan and retrospective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26464"/>
            <a:ext cx="6400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bullets"/>
          <p:cNvSpPr txBox="1"/>
          <p:nvPr/>
        </p:nvSpPr>
        <p:spPr>
          <a:xfrm>
            <a:off x="548640" y="1783080"/>
            <a:ext cx="11094415" cy="43616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1">
                <a:solidFill>
                  <a:srgbClr val="3B82F6"/>
                </a:solidFill>
                <a:latin typeface="Segoe UI"/>
                <a:cs typeface="Segoe UI"/>
              </a:rPr>
              <a:t>Sprint 6: </a:t>
            </a:r>
            <a:r>
              <a:rPr sz="2000" b="0">
                <a:solidFill>
                  <a:srgbClr val="E6EAF2"/>
                </a:solidFill>
                <a:latin typeface="Segoe UI"/>
                <a:cs typeface="Segoe UI"/>
              </a:rPr>
              <a:t>UI polish (Alan), docs and handoff (Tz-Ray), final demo and poster (both)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1">
                <a:solidFill>
                  <a:srgbClr val="22C55E"/>
                </a:solidFill>
                <a:latin typeface="Segoe UI"/>
                <a:cs typeface="Segoe UI"/>
              </a:rPr>
              <a:t>Went well: </a:t>
            </a:r>
            <a:r>
              <a:rPr sz="2000" b="0">
                <a:solidFill>
                  <a:srgbClr val="E6EAF2"/>
                </a:solidFill>
                <a:latin typeface="Segoe UI"/>
                <a:cs typeface="Segoe UI"/>
              </a:rPr>
              <a:t>free AI hosting, testing at every level, weekly client emails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1">
                <a:solidFill>
                  <a:srgbClr val="F59E0B"/>
                </a:solidFill>
                <a:latin typeface="Segoe UI"/>
                <a:cs typeface="Segoe UI"/>
              </a:rPr>
              <a:t>Improve: </a:t>
            </a:r>
            <a:r>
              <a:rPr sz="2000" b="0">
                <a:solidFill>
                  <a:srgbClr val="E6EAF2"/>
                </a:solidFill>
                <a:latin typeface="Segoe UI"/>
                <a:cs typeface="Segoe UI"/>
              </a:rPr>
              <a:t>AI enrichment slipped twice; issues closed in batches; no load test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1">
                <a:solidFill>
                  <a:srgbClr val="3B82F6"/>
                </a:solidFill>
                <a:latin typeface="Segoe UI"/>
                <a:cs typeface="Segoe UI"/>
              </a:rPr>
              <a:t>Change: </a:t>
            </a:r>
            <a:r>
              <a:rPr sz="2000" b="0">
                <a:solidFill>
                  <a:srgbClr val="E6EAF2"/>
                </a:solidFill>
                <a:latin typeface="Segoe UI"/>
                <a:cs typeface="Segoe UI"/>
              </a:rPr>
              <a:t>update issues as we work, demo weekly, client test session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1">
                <a:solidFill>
                  <a:srgbClr val="3B82F6"/>
                </a:solidFill>
                <a:latin typeface="Segoe UI"/>
                <a:cs typeface="Segoe UI"/>
              </a:rPr>
              <a:t>From client feedback: </a:t>
            </a:r>
            <a:r>
              <a:rPr sz="2000" b="0">
                <a:solidFill>
                  <a:srgbClr val="E6EAF2"/>
                </a:solidFill>
                <a:latin typeface="Segoe UI"/>
                <a:cs typeface="Segoe UI"/>
              </a:rPr>
              <a:t>live demo on Nov 3; send the poster date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94A3B8"/>
                </a:solidFill>
                <a:latin typeface="Segoe UI"/>
                <a:cs typeface="Segoe UI"/>
              </a:rPr>
              <a:t>Team 9 · Network Connection Recommendation Platform · Sprint 5</a:t>
            </a:r>
          </a:p>
        </p:txBody>
      </p:sp>
      <p:sp>
        <p:nvSpPr>
          <p:cNvPr id="7" name="pageno"/>
          <p:cNvSpPr txBox="1"/>
          <p:nvPr/>
        </p:nvSpPr>
        <p:spPr>
          <a:xfrm>
            <a:off x="10728655" y="6382512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94A3B8"/>
                </a:solidFill>
                <a:latin typeface="Segoe UI"/>
                <a:cs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548640" y="384048"/>
            <a:ext cx="77724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spc="200">
                <a:solidFill>
                  <a:srgbClr val="3B82F6"/>
                </a:solidFill>
                <a:latin typeface="Segoe UI"/>
                <a:cs typeface="Segoe UI"/>
              </a:rPr>
              <a:t>11 · CONCLUSION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658368"/>
            <a:ext cx="11094415" cy="7498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1">
                <a:solidFill>
                  <a:srgbClr val="E6EAF2"/>
                </a:solidFill>
                <a:latin typeface="Segoe UI"/>
                <a:cs typeface="Segoe UI"/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26464"/>
            <a:ext cx="6400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bullets"/>
          <p:cNvSpPr txBox="1"/>
          <p:nvPr/>
        </p:nvSpPr>
        <p:spPr>
          <a:xfrm>
            <a:off x="548640" y="1783080"/>
            <a:ext cx="11094415" cy="3657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0">
                <a:solidFill>
                  <a:srgbClr val="E6EAF2"/>
                </a:solidFill>
                <a:latin typeface="Segoe UI"/>
                <a:cs typeface="Segoe UI"/>
              </a:rPr>
              <a:t>Sprint 5: deployed, AI live, tested from unit tests to the live site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0">
                <a:solidFill>
                  <a:srgbClr val="E6EAF2"/>
                </a:solidFill>
                <a:latin typeface="Segoe UI"/>
                <a:cs typeface="Segoe UI"/>
              </a:rPr>
              <a:t>Next: polish, handoff and the final presentation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0">
                <a:solidFill>
                  <a:srgbClr val="E6EAF2"/>
                </a:solidFill>
                <a:latin typeface="Segoe UI"/>
                <a:cs typeface="Segoe UI"/>
              </a:rPr>
              <a:t>Thanks to Blake Gibson (Cowles Ventures), our mentor Parteek Kumar, and the CptS 423 staff</a:t>
            </a:r>
          </a:p>
          <a:p>
            <a:pPr algn="l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3B82F6"/>
              </a:buClr>
              <a:buFont typeface="Arial"/>
              <a:buChar char="•"/>
            </a:pPr>
            <a:r>
              <a:rPr sz="2000" b="0">
                <a:solidFill>
                  <a:srgbClr val="E6EAF2"/>
                </a:solidFill>
                <a:latin typeface="Segoe UI"/>
                <a:cs typeface="Segoe UI"/>
              </a:rPr>
              <a:t>Questions and feedback welcome</a:t>
            </a:r>
          </a:p>
        </p:txBody>
      </p:sp>
      <p:sp>
        <p:nvSpPr>
          <p:cNvPr id="6" name="links"/>
          <p:cNvSpPr txBox="1"/>
          <p:nvPr/>
        </p:nvSpPr>
        <p:spPr>
          <a:xfrm>
            <a:off x="548640" y="5760720"/>
            <a:ext cx="11094415" cy="3474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>
                <a:solidFill>
                  <a:srgbClr val="94A3B8"/>
                </a:solidFill>
                <a:latin typeface="Segoe UI"/>
                <a:cs typeface="Segoe UI"/>
              </a:rPr>
              <a:t>connectionrecommender.web.app · github.com/Tz-Ray/421-Network-Connection-Recommendation-Platform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48640" y="638251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94A3B8"/>
                </a:solidFill>
                <a:latin typeface="Segoe UI"/>
                <a:cs typeface="Segoe UI"/>
              </a:rPr>
              <a:t>Team 9 · Network Connection Recommendation Platform · Sprint 5</a:t>
            </a:r>
          </a:p>
        </p:txBody>
      </p:sp>
      <p:sp>
        <p:nvSpPr>
          <p:cNvPr id="8" name="pageno"/>
          <p:cNvSpPr txBox="1"/>
          <p:nvPr/>
        </p:nvSpPr>
        <p:spPr>
          <a:xfrm>
            <a:off x="10728655" y="6382512"/>
            <a:ext cx="914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94A3B8"/>
                </a:solidFill>
                <a:latin typeface="Segoe UI"/>
                <a:cs typeface="Segoe U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Sprint 5 Review · Network Connection Recommendation Platform</dc:title>
  <dc:subject/>
  <dc:creator>Team 9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